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67" r:id="rId16"/>
    <p:sldId id="268" r:id="rId17"/>
    <p:sldId id="273" r:id="rId18"/>
    <p:sldId id="274" r:id="rId19"/>
    <p:sldId id="275"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2D0AC-C2B4-B51B-D45C-A53C6407B0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8C7D38-596D-8B9B-CF76-9048EA509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BC902D-82A5-CEC8-AA92-AAC88BE8CBE9}"/>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5" name="Footer Placeholder 4">
            <a:extLst>
              <a:ext uri="{FF2B5EF4-FFF2-40B4-BE49-F238E27FC236}">
                <a16:creationId xmlns:a16="http://schemas.microsoft.com/office/drawing/2014/main" id="{F2456578-83D7-E821-8301-EC8FFF19E3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013DA9-7BA1-C410-A2A8-719D95C9EF6A}"/>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2435020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5DC30-D490-02AF-8243-5C8110CEC1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DC5661-725B-528C-3E06-78947E9CA7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61194B-B5FA-3F75-E512-1A13586A8C52}"/>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5" name="Footer Placeholder 4">
            <a:extLst>
              <a:ext uri="{FF2B5EF4-FFF2-40B4-BE49-F238E27FC236}">
                <a16:creationId xmlns:a16="http://schemas.microsoft.com/office/drawing/2014/main" id="{8F9D4CC0-C078-AF6E-2C84-897FAC399E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2F9C96-85A8-733B-C8C9-106C49676C43}"/>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3446430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BF2BC-38E5-1AAD-C3E7-80A019D59F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F4614E-D83C-E767-1B34-09C35ED596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748E81-7193-866B-6A17-4D48D59CD11B}"/>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5" name="Footer Placeholder 4">
            <a:extLst>
              <a:ext uri="{FF2B5EF4-FFF2-40B4-BE49-F238E27FC236}">
                <a16:creationId xmlns:a16="http://schemas.microsoft.com/office/drawing/2014/main" id="{AAADF0A0-3A50-B8D3-8E82-A48E3A7FFC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AB10CA-7C45-E08C-6E91-810EC0348AE9}"/>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2827178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682A5-0FD1-8779-70DB-730C3FDD5A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71C1E6-3106-E12A-6113-5C073BAC17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3641E7-9D15-7D39-DFC7-448899E862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A784D8-C1CF-E819-CEF0-C3270D0BEC84}"/>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6" name="Footer Placeholder 5">
            <a:extLst>
              <a:ext uri="{FF2B5EF4-FFF2-40B4-BE49-F238E27FC236}">
                <a16:creationId xmlns:a16="http://schemas.microsoft.com/office/drawing/2014/main" id="{FF056A4D-AB71-5244-C5E7-D9C6DC7DB3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A292E9-DDE5-F02F-8121-F50E0789D004}"/>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980916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25838-BC1A-4C5E-EE62-AE27508FEA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041B81-95B1-DA84-7182-E989BCD2B9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7FB63F-9D6F-3446-A6B9-A923DF7111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3753C1-481D-BDCB-34BD-951CE8F03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F422AC-472B-02A4-A3B1-2F2C57E267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5E78BBF-F7B1-122C-1671-E6B1566EBF1E}"/>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8" name="Footer Placeholder 7">
            <a:extLst>
              <a:ext uri="{FF2B5EF4-FFF2-40B4-BE49-F238E27FC236}">
                <a16:creationId xmlns:a16="http://schemas.microsoft.com/office/drawing/2014/main" id="{9F6E86AF-43B3-E5E8-AC9C-6ADDE11154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01F2BB-AA45-20F3-8AF6-97134A90A618}"/>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1752615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4DE95-CD48-BDD1-5196-AA9589409C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5E4D5AB-A56C-DE00-1EF3-CD6446D6706F}"/>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4" name="Footer Placeholder 3">
            <a:extLst>
              <a:ext uri="{FF2B5EF4-FFF2-40B4-BE49-F238E27FC236}">
                <a16:creationId xmlns:a16="http://schemas.microsoft.com/office/drawing/2014/main" id="{B96B89AB-BD72-79AC-317F-E288FA8EAA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3B3C21-2E50-5806-BB99-245867BD73AA}"/>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3840741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EAFAE7-7304-C487-3629-3AB3302AF38E}"/>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3" name="Footer Placeholder 2">
            <a:extLst>
              <a:ext uri="{FF2B5EF4-FFF2-40B4-BE49-F238E27FC236}">
                <a16:creationId xmlns:a16="http://schemas.microsoft.com/office/drawing/2014/main" id="{73F3D6C2-6D1B-E7F7-41CC-E58459A7D1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C4DDA2-BDCB-091F-E7DC-1BED9E67632B}"/>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788343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A3466-9CEF-AD1A-CDE0-B4E5D9DBAE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1F72B1-FE65-B2BF-286C-F3236D4011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CBB410-547B-2F27-7905-9A93CF2546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420FEC-1362-44ED-E2CF-5B02FF606072}"/>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6" name="Footer Placeholder 5">
            <a:extLst>
              <a:ext uri="{FF2B5EF4-FFF2-40B4-BE49-F238E27FC236}">
                <a16:creationId xmlns:a16="http://schemas.microsoft.com/office/drawing/2014/main" id="{4B6324E7-F1DC-3B7A-4DBC-E1C58FBC50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016C95-2923-ABDF-EF80-1B0F5AD48B6F}"/>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4211199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DF6F-B63B-0F7E-628E-80C0F334FC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3BC51E-C15F-3978-A775-59ED4D81E8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F89C2E-5441-4078-91D1-79B00C3E4D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597229-408C-6A05-657A-3AF739724B92}"/>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6" name="Footer Placeholder 5">
            <a:extLst>
              <a:ext uri="{FF2B5EF4-FFF2-40B4-BE49-F238E27FC236}">
                <a16:creationId xmlns:a16="http://schemas.microsoft.com/office/drawing/2014/main" id="{500570E9-CDA4-708A-D500-CF7E452B05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407305-318A-E270-0811-A661896C2352}"/>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3759889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5AC82-B4DF-1275-AAC2-DA638C7544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F0555E-BB12-9722-F7FC-E43D9FE0B5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2FE15-6F1D-8A3D-2EB7-5A1E8496E19C}"/>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5" name="Footer Placeholder 4">
            <a:extLst>
              <a:ext uri="{FF2B5EF4-FFF2-40B4-BE49-F238E27FC236}">
                <a16:creationId xmlns:a16="http://schemas.microsoft.com/office/drawing/2014/main" id="{79BDC6A5-58AA-746F-0E63-FD0B91B18F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F3C76F-71D3-4C40-BEFA-CC27BE9929F8}"/>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1368731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28A8F8-69F2-0307-C31B-2F609A17B9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F3690C-1D8B-9FDC-6C5C-0DC0BBFBCE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444804-4172-4F0F-87F5-4A27EAC9A5F7}"/>
              </a:ext>
            </a:extLst>
          </p:cNvPr>
          <p:cNvSpPr>
            <a:spLocks noGrp="1"/>
          </p:cNvSpPr>
          <p:nvPr>
            <p:ph type="dt" sz="half" idx="10"/>
          </p:nvPr>
        </p:nvSpPr>
        <p:spPr/>
        <p:txBody>
          <a:bodyPr/>
          <a:lstStyle/>
          <a:p>
            <a:fld id="{BB2F729E-C50D-4C10-B64D-34704B179819}" type="datetimeFigureOut">
              <a:rPr lang="en-IN" smtClean="0"/>
              <a:t>15-05-2026</a:t>
            </a:fld>
            <a:endParaRPr lang="en-IN"/>
          </a:p>
        </p:txBody>
      </p:sp>
      <p:sp>
        <p:nvSpPr>
          <p:cNvPr id="5" name="Footer Placeholder 4">
            <a:extLst>
              <a:ext uri="{FF2B5EF4-FFF2-40B4-BE49-F238E27FC236}">
                <a16:creationId xmlns:a16="http://schemas.microsoft.com/office/drawing/2014/main" id="{38B5F492-E5F9-4AC5-5AE6-D5D556A534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FE91EA-4475-DB1E-C8EE-3DE5FEC6F33A}"/>
              </a:ext>
            </a:extLst>
          </p:cNvPr>
          <p:cNvSpPr>
            <a:spLocks noGrp="1"/>
          </p:cNvSpPr>
          <p:nvPr>
            <p:ph type="sldNum" sz="quarter" idx="12"/>
          </p:nvPr>
        </p:nvSpPr>
        <p:spPr/>
        <p:txBody>
          <a:bodyPr/>
          <a:lstStyle/>
          <a:p>
            <a:fld id="{5DD17945-1EF2-421F-8BFD-199D9894882A}" type="slidenum">
              <a:rPr lang="en-IN" smtClean="0"/>
              <a:t>‹#›</a:t>
            </a:fld>
            <a:endParaRPr lang="en-IN"/>
          </a:p>
        </p:txBody>
      </p:sp>
    </p:spTree>
    <p:extLst>
      <p:ext uri="{BB962C8B-B14F-4D97-AF65-F5344CB8AC3E}">
        <p14:creationId xmlns:p14="http://schemas.microsoft.com/office/powerpoint/2010/main" val="3269006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FF9891-DC35-F31C-0758-6886CEBF7E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AA20F8-2DA0-622F-BB75-CC217C51E8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BD8EAD-B385-6B0A-7A7A-8029B07A83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2F729E-C50D-4C10-B64D-34704B179819}" type="datetimeFigureOut">
              <a:rPr lang="en-IN" smtClean="0"/>
              <a:t>15-05-2026</a:t>
            </a:fld>
            <a:endParaRPr lang="en-IN"/>
          </a:p>
        </p:txBody>
      </p:sp>
      <p:sp>
        <p:nvSpPr>
          <p:cNvPr id="5" name="Footer Placeholder 4">
            <a:extLst>
              <a:ext uri="{FF2B5EF4-FFF2-40B4-BE49-F238E27FC236}">
                <a16:creationId xmlns:a16="http://schemas.microsoft.com/office/drawing/2014/main" id="{92F12657-0DB4-EEE0-EAC6-C660A3242B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30DF519-B9C7-DE04-4654-238701A888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D17945-1EF2-421F-8BFD-199D9894882A}" type="slidenum">
              <a:rPr lang="en-IN" smtClean="0"/>
              <a:t>‹#›</a:t>
            </a:fld>
            <a:endParaRPr lang="en-IN"/>
          </a:p>
        </p:txBody>
      </p:sp>
    </p:spTree>
    <p:extLst>
      <p:ext uri="{BB962C8B-B14F-4D97-AF65-F5344CB8AC3E}">
        <p14:creationId xmlns:p14="http://schemas.microsoft.com/office/powerpoint/2010/main" val="2530823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B8D8F-AEEA-E645-429C-E60F5FEF21DD}"/>
              </a:ext>
            </a:extLst>
          </p:cNvPr>
          <p:cNvSpPr>
            <a:spLocks noGrp="1"/>
          </p:cNvSpPr>
          <p:nvPr>
            <p:ph type="ctrTitle"/>
          </p:nvPr>
        </p:nvSpPr>
        <p:spPr>
          <a:xfrm>
            <a:off x="1524000" y="1717167"/>
            <a:ext cx="9144000" cy="2882370"/>
          </a:xfrm>
        </p:spPr>
        <p:txBody>
          <a:bodyPr>
            <a:normAutofit fontScale="90000"/>
          </a:bodyPr>
          <a:lstStyle/>
          <a:p>
            <a:r>
              <a:rPr lang="en-US" b="1" dirty="0">
                <a:latin typeface="Times New Roman" panose="02020603050405020304" pitchFamily="18" charset="0"/>
                <a:cs typeface="Times New Roman" panose="02020603050405020304" pitchFamily="18" charset="0"/>
              </a:rPr>
              <a:t>Real Estate Investment Advisor: Predicting Property Profitability &amp; Future Value</a:t>
            </a: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Mini project -2</a:t>
            </a:r>
            <a:endParaRPr lang="en-IN" sz="1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A03263F-7705-9226-4F8C-7449F896DA42}"/>
              </a:ext>
            </a:extLst>
          </p:cNvPr>
          <p:cNvSpPr>
            <a:spLocks noGrp="1"/>
          </p:cNvSpPr>
          <p:nvPr>
            <p:ph type="subTitle" idx="1"/>
          </p:nvPr>
        </p:nvSpPr>
        <p:spPr>
          <a:xfrm>
            <a:off x="2810933" y="4457172"/>
            <a:ext cx="9144000" cy="1655762"/>
          </a:xfrm>
        </p:spPr>
        <p:txBody>
          <a:bodyPr>
            <a:normAutofit/>
          </a:bodyPr>
          <a:lstStyle/>
          <a:p>
            <a:pPr algn="r"/>
            <a:r>
              <a:rPr lang="en-US" sz="1800" dirty="0">
                <a:latin typeface="Times New Roman" panose="02020603050405020304" pitchFamily="18" charset="0"/>
                <a:cs typeface="Times New Roman" panose="02020603050405020304" pitchFamily="18" charset="0"/>
              </a:rPr>
              <a:t>                                                                                        Presented By </a:t>
            </a:r>
          </a:p>
          <a:p>
            <a:pPr algn="r"/>
            <a:r>
              <a:rPr lang="en-US" sz="1800" dirty="0">
                <a:latin typeface="Times New Roman" panose="02020603050405020304" pitchFamily="18" charset="0"/>
                <a:cs typeface="Times New Roman" panose="02020603050405020304" pitchFamily="18" charset="0"/>
              </a:rPr>
              <a:t>                                                                                       Anushka T</a:t>
            </a:r>
          </a:p>
          <a:p>
            <a:pPr algn="r"/>
            <a:r>
              <a:rPr lang="en-US" sz="1800" dirty="0">
                <a:latin typeface="Times New Roman" panose="02020603050405020304" pitchFamily="18" charset="0"/>
                <a:cs typeface="Times New Roman" panose="02020603050405020304" pitchFamily="18" charset="0"/>
              </a:rPr>
              <a:t>                                                                                            Weekday batch (AIML)</a:t>
            </a:r>
          </a:p>
          <a:p>
            <a:endParaRPr lang="en-IN" dirty="0"/>
          </a:p>
        </p:txBody>
      </p:sp>
    </p:spTree>
    <p:extLst>
      <p:ext uri="{BB962C8B-B14F-4D97-AF65-F5344CB8AC3E}">
        <p14:creationId xmlns:p14="http://schemas.microsoft.com/office/powerpoint/2010/main" val="4274899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0EF1-CB53-8253-C906-A2486A9011CE}"/>
              </a:ext>
            </a:extLst>
          </p:cNvPr>
          <p:cNvSpPr>
            <a:spLocks noGrp="1"/>
          </p:cNvSpPr>
          <p:nvPr>
            <p:ph type="title"/>
          </p:nvPr>
        </p:nvSpPr>
        <p:spPr>
          <a:xfrm>
            <a:off x="696157" y="38423"/>
            <a:ext cx="10515600" cy="1325563"/>
          </a:xfrm>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A5FD309-1E53-9D0F-D369-368D490C1417}"/>
              </a:ext>
            </a:extLst>
          </p:cNvPr>
          <p:cNvSpPr>
            <a:spLocks noGrp="1"/>
          </p:cNvSpPr>
          <p:nvPr>
            <p:ph idx="1"/>
          </p:nvPr>
        </p:nvSpPr>
        <p:spPr>
          <a:xfrm>
            <a:off x="838200" y="1168678"/>
            <a:ext cx="10515600" cy="4351338"/>
          </a:xfrm>
        </p:spPr>
        <p:txBody>
          <a:bodyPr>
            <a:noAutofit/>
          </a:bodyPr>
          <a:lstStyle/>
          <a:p>
            <a:r>
              <a:rPr lang="en-US" sz="1400" dirty="0">
                <a:latin typeface="Times New Roman" panose="02020603050405020304" pitchFamily="18" charset="0"/>
                <a:cs typeface="Times New Roman" panose="02020603050405020304" pitchFamily="18" charset="0"/>
              </a:rPr>
              <a:t>Real estate is one of the most important investment sectors.</a:t>
            </a:r>
          </a:p>
          <a:p>
            <a:pPr marL="0" indent="0">
              <a:buNone/>
            </a:pP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People often face difficulty in deciding:</a:t>
            </a:r>
          </a:p>
          <a:p>
            <a:r>
              <a:rPr lang="en-US" sz="1400" dirty="0">
                <a:latin typeface="Times New Roman" panose="02020603050405020304" pitchFamily="18" charset="0"/>
                <a:cs typeface="Times New Roman" panose="02020603050405020304" pitchFamily="18" charset="0"/>
              </a:rPr>
              <a:t>Whether a property is worth buying </a:t>
            </a:r>
          </a:p>
          <a:p>
            <a:r>
              <a:rPr lang="en-US" sz="1400" dirty="0">
                <a:latin typeface="Times New Roman" panose="02020603050405020304" pitchFamily="18" charset="0"/>
                <a:cs typeface="Times New Roman" panose="02020603050405020304" pitchFamily="18" charset="0"/>
              </a:rPr>
              <a:t>Whether the price is reasonable </a:t>
            </a:r>
          </a:p>
          <a:p>
            <a:r>
              <a:rPr lang="en-US" sz="1400" dirty="0">
                <a:latin typeface="Times New Roman" panose="02020603050405020304" pitchFamily="18" charset="0"/>
                <a:cs typeface="Times New Roman" panose="02020603050405020304" pitchFamily="18" charset="0"/>
              </a:rPr>
              <a:t>How much the property value may increase in future </a:t>
            </a:r>
          </a:p>
          <a:p>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Traditional property analysis requires:</a:t>
            </a:r>
          </a:p>
          <a:p>
            <a:r>
              <a:rPr lang="en-US" sz="1400" dirty="0">
                <a:latin typeface="Times New Roman" panose="02020603050405020304" pitchFamily="18" charset="0"/>
                <a:cs typeface="Times New Roman" panose="02020603050405020304" pitchFamily="18" charset="0"/>
              </a:rPr>
              <a:t>market knowledge </a:t>
            </a:r>
          </a:p>
          <a:p>
            <a:r>
              <a:rPr lang="en-US" sz="1400" dirty="0">
                <a:latin typeface="Times New Roman" panose="02020603050405020304" pitchFamily="18" charset="0"/>
                <a:cs typeface="Times New Roman" panose="02020603050405020304" pitchFamily="18" charset="0"/>
              </a:rPr>
              <a:t>manual comparison </a:t>
            </a:r>
          </a:p>
          <a:p>
            <a:r>
              <a:rPr lang="en-US" sz="1400" dirty="0">
                <a:latin typeface="Times New Roman" panose="02020603050405020304" pitchFamily="18" charset="0"/>
                <a:cs typeface="Times New Roman" panose="02020603050405020304" pitchFamily="18" charset="0"/>
              </a:rPr>
              <a:t>expert consultation </a:t>
            </a:r>
          </a:p>
          <a:p>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This project uses Machine Learning techniques to:</a:t>
            </a:r>
          </a:p>
          <a:p>
            <a:r>
              <a:rPr lang="en-US" sz="1400" dirty="0">
                <a:latin typeface="Times New Roman" panose="02020603050405020304" pitchFamily="18" charset="0"/>
                <a:cs typeface="Times New Roman" panose="02020603050405020304" pitchFamily="18" charset="0"/>
              </a:rPr>
              <a:t>analyze property data </a:t>
            </a:r>
          </a:p>
          <a:p>
            <a:r>
              <a:rPr lang="en-US" sz="1400" dirty="0">
                <a:latin typeface="Times New Roman" panose="02020603050405020304" pitchFamily="18" charset="0"/>
                <a:cs typeface="Times New Roman" panose="02020603050405020304" pitchFamily="18" charset="0"/>
              </a:rPr>
              <a:t>predict investment quality </a:t>
            </a:r>
          </a:p>
          <a:p>
            <a:r>
              <a:rPr lang="en-US" sz="1400" dirty="0">
                <a:latin typeface="Times New Roman" panose="02020603050405020304" pitchFamily="18" charset="0"/>
                <a:cs typeface="Times New Roman" panose="02020603050405020304" pitchFamily="18" charset="0"/>
              </a:rPr>
              <a:t>estimate future property prices </a:t>
            </a:r>
          </a:p>
          <a:p>
            <a:r>
              <a:rPr lang="en-US" sz="1400" dirty="0">
                <a:latin typeface="Times New Roman" panose="02020603050405020304" pitchFamily="18" charset="0"/>
                <a:cs typeface="Times New Roman" panose="02020603050405020304" pitchFamily="18" charset="0"/>
              </a:rPr>
              <a:t>The system provides fast and data-driven property analysis through an interactive </a:t>
            </a:r>
            <a:r>
              <a:rPr lang="en-US" sz="1400" dirty="0" err="1">
                <a:latin typeface="Times New Roman" panose="02020603050405020304" pitchFamily="18" charset="0"/>
                <a:cs typeface="Times New Roman" panose="02020603050405020304" pitchFamily="18" charset="0"/>
              </a:rPr>
              <a:t>Streamlit</a:t>
            </a:r>
            <a:r>
              <a:rPr lang="en-US" sz="1400" dirty="0">
                <a:latin typeface="Times New Roman" panose="02020603050405020304" pitchFamily="18" charset="0"/>
                <a:cs typeface="Times New Roman" panose="02020603050405020304" pitchFamily="18" charset="0"/>
              </a:rPr>
              <a:t> application.</a:t>
            </a: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637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CE8DA-FC5D-AC56-D798-86403357672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66B0CD9A-8CE8-736A-E164-BBD41D2C4649}"/>
              </a:ext>
            </a:extLst>
          </p:cNvPr>
          <p:cNvSpPr>
            <a:spLocks noGrp="1"/>
          </p:cNvSpPr>
          <p:nvPr>
            <p:ph idx="1"/>
          </p:nvPr>
        </p:nvSpPr>
        <p:spPr>
          <a:xfrm>
            <a:off x="971365" y="1690688"/>
            <a:ext cx="10515600" cy="4351338"/>
          </a:xfrm>
        </p:spPr>
        <p:txBody>
          <a:bodyPr>
            <a:normAutofit fontScale="47500" lnSpcReduction="20000"/>
          </a:bodyPr>
          <a:lstStyle/>
          <a:p>
            <a:pPr marL="0" indent="0">
              <a:buNone/>
            </a:pPr>
            <a:r>
              <a:rPr lang="en-US" sz="2900" b="1" dirty="0">
                <a:latin typeface="Times New Roman" panose="02020603050405020304" pitchFamily="18" charset="0"/>
                <a:cs typeface="Times New Roman" panose="02020603050405020304" pitchFamily="18" charset="0"/>
              </a:rPr>
              <a:t>Many property buyers and investors struggle to:</a:t>
            </a:r>
          </a:p>
          <a:p>
            <a:r>
              <a:rPr lang="en-US" sz="2900" dirty="0">
                <a:latin typeface="Times New Roman" panose="02020603050405020304" pitchFamily="18" charset="0"/>
                <a:cs typeface="Times New Roman" panose="02020603050405020304" pitchFamily="18" charset="0"/>
              </a:rPr>
              <a:t>identify profitable properties </a:t>
            </a:r>
          </a:p>
          <a:p>
            <a:r>
              <a:rPr lang="en-US" sz="2900" dirty="0">
                <a:latin typeface="Times New Roman" panose="02020603050405020304" pitchFamily="18" charset="0"/>
                <a:cs typeface="Times New Roman" panose="02020603050405020304" pitchFamily="18" charset="0"/>
              </a:rPr>
              <a:t>compare different locations </a:t>
            </a:r>
          </a:p>
          <a:p>
            <a:r>
              <a:rPr lang="en-US" sz="2900" dirty="0">
                <a:latin typeface="Times New Roman" panose="02020603050405020304" pitchFamily="18" charset="0"/>
                <a:cs typeface="Times New Roman" panose="02020603050405020304" pitchFamily="18" charset="0"/>
              </a:rPr>
              <a:t>estimate future property growth </a:t>
            </a:r>
          </a:p>
          <a:p>
            <a:r>
              <a:rPr lang="en-US" sz="2900" dirty="0">
                <a:latin typeface="Times New Roman" panose="02020603050405020304" pitchFamily="18" charset="0"/>
                <a:cs typeface="Times New Roman" panose="02020603050405020304" pitchFamily="18" charset="0"/>
              </a:rPr>
              <a:t>make quick investment decisions </a:t>
            </a:r>
          </a:p>
          <a:p>
            <a:endParaRPr lang="en-US" sz="2900" dirty="0">
              <a:latin typeface="Times New Roman" panose="02020603050405020304" pitchFamily="18" charset="0"/>
              <a:cs typeface="Times New Roman" panose="02020603050405020304" pitchFamily="18" charset="0"/>
            </a:endParaRPr>
          </a:p>
          <a:p>
            <a:pPr marL="0" indent="0">
              <a:buNone/>
            </a:pPr>
            <a:r>
              <a:rPr lang="en-US" sz="2900" b="1" dirty="0">
                <a:latin typeface="Times New Roman" panose="02020603050405020304" pitchFamily="18" charset="0"/>
                <a:cs typeface="Times New Roman" panose="02020603050405020304" pitchFamily="18" charset="0"/>
              </a:rPr>
              <a:t>Existing methods are:</a:t>
            </a:r>
          </a:p>
          <a:p>
            <a:r>
              <a:rPr lang="en-US" sz="2900" dirty="0">
                <a:latin typeface="Times New Roman" panose="02020603050405020304" pitchFamily="18" charset="0"/>
                <a:cs typeface="Times New Roman" panose="02020603050405020304" pitchFamily="18" charset="0"/>
              </a:rPr>
              <a:t>time consuming </a:t>
            </a:r>
          </a:p>
          <a:p>
            <a:r>
              <a:rPr lang="en-US" sz="2900" dirty="0">
                <a:latin typeface="Times New Roman" panose="02020603050405020304" pitchFamily="18" charset="0"/>
                <a:cs typeface="Times New Roman" panose="02020603050405020304" pitchFamily="18" charset="0"/>
              </a:rPr>
              <a:t>dependent on real estate agents </a:t>
            </a:r>
          </a:p>
          <a:p>
            <a:r>
              <a:rPr lang="en-US" sz="2900" dirty="0">
                <a:latin typeface="Times New Roman" panose="02020603050405020304" pitchFamily="18" charset="0"/>
                <a:cs typeface="Times New Roman" panose="02020603050405020304" pitchFamily="18" charset="0"/>
              </a:rPr>
              <a:t>less data-driven </a:t>
            </a:r>
          </a:p>
          <a:p>
            <a:endParaRPr lang="en-US" sz="2900" dirty="0">
              <a:latin typeface="Times New Roman" panose="02020603050405020304" pitchFamily="18" charset="0"/>
              <a:cs typeface="Times New Roman" panose="02020603050405020304" pitchFamily="18" charset="0"/>
            </a:endParaRPr>
          </a:p>
          <a:p>
            <a:pPr marL="0" indent="0">
              <a:buNone/>
            </a:pPr>
            <a:r>
              <a:rPr lang="en-US" sz="2900" b="1" dirty="0">
                <a:latin typeface="Times New Roman" panose="02020603050405020304" pitchFamily="18" charset="0"/>
                <a:cs typeface="Times New Roman" panose="02020603050405020304" pitchFamily="18" charset="0"/>
              </a:rPr>
              <a:t>Therefore, there is a need for an intelligent system that can:</a:t>
            </a:r>
          </a:p>
          <a:p>
            <a:r>
              <a:rPr lang="en-US" sz="2900" dirty="0">
                <a:latin typeface="Times New Roman" panose="02020603050405020304" pitchFamily="18" charset="0"/>
                <a:cs typeface="Times New Roman" panose="02020603050405020304" pitchFamily="18" charset="0"/>
              </a:rPr>
              <a:t>analyze property features </a:t>
            </a:r>
          </a:p>
          <a:p>
            <a:r>
              <a:rPr lang="en-US" sz="2900" dirty="0">
                <a:latin typeface="Times New Roman" panose="02020603050405020304" pitchFamily="18" charset="0"/>
                <a:cs typeface="Times New Roman" panose="02020603050405020304" pitchFamily="18" charset="0"/>
              </a:rPr>
              <a:t>predict investment quality </a:t>
            </a:r>
          </a:p>
          <a:p>
            <a:r>
              <a:rPr lang="en-US" sz="2900" dirty="0">
                <a:latin typeface="Times New Roman" panose="02020603050405020304" pitchFamily="18" charset="0"/>
                <a:cs typeface="Times New Roman" panose="02020603050405020304" pitchFamily="18" charset="0"/>
              </a:rPr>
              <a:t>estimate future property prices automatically </a:t>
            </a:r>
          </a:p>
          <a:p>
            <a:endParaRPr lang="en-IN" dirty="0"/>
          </a:p>
        </p:txBody>
      </p:sp>
    </p:spTree>
    <p:extLst>
      <p:ext uri="{BB962C8B-B14F-4D97-AF65-F5344CB8AC3E}">
        <p14:creationId xmlns:p14="http://schemas.microsoft.com/office/powerpoint/2010/main" val="75744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E3217-34A3-FD9B-579F-7968231FC08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54A9E65E-0BD2-B10C-0609-011F00786945}"/>
              </a:ext>
            </a:extLst>
          </p:cNvPr>
          <p:cNvSpPr>
            <a:spLocks noGrp="1"/>
          </p:cNvSpPr>
          <p:nvPr>
            <p:ph idx="1"/>
          </p:nvPr>
        </p:nvSpPr>
        <p:spPr/>
        <p:txBody>
          <a:bodyPr>
            <a:normAutofit/>
          </a:bodyPr>
          <a:lstStyle/>
          <a:p>
            <a:r>
              <a:rPr lang="en-US" sz="1800" dirty="0">
                <a:latin typeface="Times New Roman" panose="02020603050405020304" pitchFamily="18" charset="0"/>
                <a:cs typeface="Times New Roman" panose="02020603050405020304" pitchFamily="18" charset="0"/>
              </a:rPr>
              <a:t>To develop a machine learning based Real Estate Investment Advisor </a:t>
            </a:r>
          </a:p>
          <a:p>
            <a:r>
              <a:rPr lang="en-US" sz="1800" dirty="0">
                <a:latin typeface="Times New Roman" panose="02020603050405020304" pitchFamily="18" charset="0"/>
                <a:cs typeface="Times New Roman" panose="02020603050405020304" pitchFamily="18" charset="0"/>
              </a:rPr>
              <a:t>To predict whether a property is a good investment </a:t>
            </a:r>
          </a:p>
          <a:p>
            <a:r>
              <a:rPr lang="en-US" sz="1800" dirty="0">
                <a:latin typeface="Times New Roman" panose="02020603050405020304" pitchFamily="18" charset="0"/>
                <a:cs typeface="Times New Roman" panose="02020603050405020304" pitchFamily="18" charset="0"/>
              </a:rPr>
              <a:t>To estimate property price after 5 years </a:t>
            </a:r>
          </a:p>
          <a:p>
            <a:r>
              <a:rPr lang="en-US" sz="1800" dirty="0">
                <a:latin typeface="Times New Roman" panose="02020603050405020304" pitchFamily="18" charset="0"/>
                <a:cs typeface="Times New Roman" panose="02020603050405020304" pitchFamily="18" charset="0"/>
              </a:rPr>
              <a:t>To perform Exploratory Data Analysis (EDA) </a:t>
            </a:r>
          </a:p>
          <a:p>
            <a:r>
              <a:rPr lang="en-US" sz="1800" dirty="0">
                <a:latin typeface="Times New Roman" panose="02020603050405020304" pitchFamily="18" charset="0"/>
                <a:cs typeface="Times New Roman" panose="02020603050405020304" pitchFamily="18" charset="0"/>
              </a:rPr>
              <a:t>To compare multiple ML algorithms </a:t>
            </a:r>
          </a:p>
          <a:p>
            <a:r>
              <a:rPr lang="en-US" sz="1800" dirty="0">
                <a:latin typeface="Times New Roman" panose="02020603050405020304" pitchFamily="18" charset="0"/>
                <a:cs typeface="Times New Roman" panose="02020603050405020304" pitchFamily="18" charset="0"/>
              </a:rPr>
              <a:t>To build a user-friendly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web application </a:t>
            </a:r>
          </a:p>
          <a:p>
            <a:r>
              <a:rPr lang="en-US" sz="1800" dirty="0">
                <a:latin typeface="Times New Roman" panose="02020603050405020304" pitchFamily="18" charset="0"/>
                <a:cs typeface="Times New Roman" panose="02020603050405020304" pitchFamily="18" charset="0"/>
              </a:rPr>
              <a:t>To provide quick and accurate property analysis</a:t>
            </a:r>
          </a:p>
          <a:p>
            <a:endParaRPr lang="en-IN" dirty="0"/>
          </a:p>
        </p:txBody>
      </p:sp>
    </p:spTree>
    <p:extLst>
      <p:ext uri="{BB962C8B-B14F-4D97-AF65-F5344CB8AC3E}">
        <p14:creationId xmlns:p14="http://schemas.microsoft.com/office/powerpoint/2010/main" val="2294571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32FFB-A832-1CE9-6D7E-1BE14A2BAD3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Technologies Used</a:t>
            </a:r>
          </a:p>
        </p:txBody>
      </p:sp>
      <p:sp>
        <p:nvSpPr>
          <p:cNvPr id="3" name="Content Placeholder 2">
            <a:extLst>
              <a:ext uri="{FF2B5EF4-FFF2-40B4-BE49-F238E27FC236}">
                <a16:creationId xmlns:a16="http://schemas.microsoft.com/office/drawing/2014/main" id="{42D3839E-4421-B7E4-6CC3-9D4078A6A3E3}"/>
              </a:ext>
            </a:extLst>
          </p:cNvPr>
          <p:cNvSpPr>
            <a:spLocks noGrp="1"/>
          </p:cNvSpPr>
          <p:nvPr>
            <p:ph idx="1"/>
          </p:nvPr>
        </p:nvSpPr>
        <p:spPr>
          <a:xfrm>
            <a:off x="1015753" y="1452763"/>
            <a:ext cx="10515600" cy="4351338"/>
          </a:xfrm>
        </p:spPr>
        <p:txBody>
          <a:bodyPr>
            <a:normAutofit fontScale="25000" lnSpcReduction="20000"/>
          </a:bodyPr>
          <a:lstStyle/>
          <a:p>
            <a:pPr marL="0" indent="0">
              <a:buNone/>
            </a:pPr>
            <a:r>
              <a:rPr lang="en-IN" sz="6400" b="1" dirty="0">
                <a:latin typeface="Times New Roman" panose="02020603050405020304" pitchFamily="18" charset="0"/>
                <a:cs typeface="Times New Roman" panose="02020603050405020304" pitchFamily="18" charset="0"/>
              </a:rPr>
              <a:t>Programming Language</a:t>
            </a:r>
          </a:p>
          <a:p>
            <a:r>
              <a:rPr lang="en-IN" sz="6400" dirty="0">
                <a:latin typeface="Times New Roman" panose="02020603050405020304" pitchFamily="18" charset="0"/>
                <a:cs typeface="Times New Roman" panose="02020603050405020304" pitchFamily="18" charset="0"/>
              </a:rPr>
              <a:t>Python </a:t>
            </a:r>
          </a:p>
          <a:p>
            <a:endParaRPr lang="en-IN" sz="6400" dirty="0">
              <a:latin typeface="Times New Roman" panose="02020603050405020304" pitchFamily="18" charset="0"/>
              <a:cs typeface="Times New Roman" panose="02020603050405020304" pitchFamily="18" charset="0"/>
            </a:endParaRPr>
          </a:p>
          <a:p>
            <a:pPr marL="0" indent="0">
              <a:buNone/>
            </a:pPr>
            <a:r>
              <a:rPr lang="en-IN" sz="6400" b="1" dirty="0">
                <a:latin typeface="Times New Roman" panose="02020603050405020304" pitchFamily="18" charset="0"/>
                <a:cs typeface="Times New Roman" panose="02020603050405020304" pitchFamily="18" charset="0"/>
              </a:rPr>
              <a:t>Libraries Used</a:t>
            </a:r>
          </a:p>
          <a:p>
            <a:r>
              <a:rPr lang="en-IN" sz="6400" dirty="0">
                <a:latin typeface="Times New Roman" panose="02020603050405020304" pitchFamily="18" charset="0"/>
                <a:cs typeface="Times New Roman" panose="02020603050405020304" pitchFamily="18" charset="0"/>
              </a:rPr>
              <a:t>Pandas </a:t>
            </a:r>
          </a:p>
          <a:p>
            <a:r>
              <a:rPr lang="en-IN" sz="6400" dirty="0">
                <a:latin typeface="Times New Roman" panose="02020603050405020304" pitchFamily="18" charset="0"/>
                <a:cs typeface="Times New Roman" panose="02020603050405020304" pitchFamily="18" charset="0"/>
              </a:rPr>
              <a:t>NumPy </a:t>
            </a:r>
          </a:p>
          <a:p>
            <a:r>
              <a:rPr lang="en-IN" sz="6400" dirty="0">
                <a:latin typeface="Times New Roman" panose="02020603050405020304" pitchFamily="18" charset="0"/>
                <a:cs typeface="Times New Roman" panose="02020603050405020304" pitchFamily="18" charset="0"/>
              </a:rPr>
              <a:t>Matplotlib </a:t>
            </a:r>
          </a:p>
          <a:p>
            <a:r>
              <a:rPr lang="en-IN" sz="6400" dirty="0">
                <a:latin typeface="Times New Roman" panose="02020603050405020304" pitchFamily="18" charset="0"/>
                <a:cs typeface="Times New Roman" panose="02020603050405020304" pitchFamily="18" charset="0"/>
              </a:rPr>
              <a:t>Seaborn </a:t>
            </a:r>
          </a:p>
          <a:p>
            <a:r>
              <a:rPr lang="en-IN" sz="6400" dirty="0">
                <a:latin typeface="Times New Roman" panose="02020603050405020304" pitchFamily="18" charset="0"/>
                <a:cs typeface="Times New Roman" panose="02020603050405020304" pitchFamily="18" charset="0"/>
              </a:rPr>
              <a:t>Scikit-learn </a:t>
            </a:r>
          </a:p>
          <a:p>
            <a:r>
              <a:rPr lang="en-IN" sz="6400" dirty="0" err="1">
                <a:latin typeface="Times New Roman" panose="02020603050405020304" pitchFamily="18" charset="0"/>
                <a:cs typeface="Times New Roman" panose="02020603050405020304" pitchFamily="18" charset="0"/>
              </a:rPr>
              <a:t>XGBoost</a:t>
            </a:r>
            <a:r>
              <a:rPr lang="en-IN" sz="6400" dirty="0">
                <a:latin typeface="Times New Roman" panose="02020603050405020304" pitchFamily="18" charset="0"/>
                <a:cs typeface="Times New Roman" panose="02020603050405020304" pitchFamily="18" charset="0"/>
              </a:rPr>
              <a:t> </a:t>
            </a:r>
          </a:p>
          <a:p>
            <a:r>
              <a:rPr lang="en-IN" sz="6400" dirty="0">
                <a:latin typeface="Times New Roman" panose="02020603050405020304" pitchFamily="18" charset="0"/>
                <a:cs typeface="Times New Roman" panose="02020603050405020304" pitchFamily="18" charset="0"/>
              </a:rPr>
              <a:t>Pickle </a:t>
            </a:r>
          </a:p>
          <a:p>
            <a:endParaRPr lang="en-IN" sz="6400" dirty="0">
              <a:latin typeface="Times New Roman" panose="02020603050405020304" pitchFamily="18" charset="0"/>
              <a:cs typeface="Times New Roman" panose="02020603050405020304" pitchFamily="18" charset="0"/>
            </a:endParaRPr>
          </a:p>
          <a:p>
            <a:pPr marL="0" indent="0">
              <a:buNone/>
            </a:pPr>
            <a:r>
              <a:rPr lang="en-IN" sz="6400" b="1" dirty="0">
                <a:latin typeface="Times New Roman" panose="02020603050405020304" pitchFamily="18" charset="0"/>
                <a:cs typeface="Times New Roman" panose="02020603050405020304" pitchFamily="18" charset="0"/>
              </a:rPr>
              <a:t>Web Framework</a:t>
            </a:r>
          </a:p>
          <a:p>
            <a:r>
              <a:rPr lang="en-IN" sz="6400" dirty="0" err="1">
                <a:latin typeface="Times New Roman" panose="02020603050405020304" pitchFamily="18" charset="0"/>
                <a:cs typeface="Times New Roman" panose="02020603050405020304" pitchFamily="18" charset="0"/>
              </a:rPr>
              <a:t>Streamlit</a:t>
            </a:r>
            <a:r>
              <a:rPr lang="en-IN" sz="6400" dirty="0">
                <a:latin typeface="Times New Roman" panose="02020603050405020304" pitchFamily="18" charset="0"/>
                <a:cs typeface="Times New Roman" panose="02020603050405020304" pitchFamily="18" charset="0"/>
              </a:rPr>
              <a:t> </a:t>
            </a:r>
          </a:p>
          <a:p>
            <a:endParaRPr lang="en-IN" sz="6400" dirty="0">
              <a:latin typeface="Times New Roman" panose="02020603050405020304" pitchFamily="18" charset="0"/>
              <a:cs typeface="Times New Roman" panose="02020603050405020304" pitchFamily="18" charset="0"/>
            </a:endParaRPr>
          </a:p>
          <a:p>
            <a:pPr marL="0" indent="0">
              <a:buNone/>
            </a:pPr>
            <a:r>
              <a:rPr lang="en-IN" sz="6400" b="1" dirty="0">
                <a:latin typeface="Times New Roman" panose="02020603050405020304" pitchFamily="18" charset="0"/>
                <a:cs typeface="Times New Roman" panose="02020603050405020304" pitchFamily="18" charset="0"/>
              </a:rPr>
              <a:t>Development Environment</a:t>
            </a:r>
          </a:p>
          <a:p>
            <a:r>
              <a:rPr lang="en-IN" sz="6400" dirty="0">
                <a:latin typeface="Times New Roman" panose="02020603050405020304" pitchFamily="18" charset="0"/>
                <a:cs typeface="Times New Roman" panose="02020603050405020304" pitchFamily="18" charset="0"/>
              </a:rPr>
              <a:t>VS Code</a:t>
            </a:r>
          </a:p>
          <a:p>
            <a:pPr marL="0" indent="0">
              <a:buNone/>
            </a:pPr>
            <a:endParaRPr lang="en-IN" dirty="0"/>
          </a:p>
        </p:txBody>
      </p:sp>
    </p:spTree>
    <p:extLst>
      <p:ext uri="{BB962C8B-B14F-4D97-AF65-F5344CB8AC3E}">
        <p14:creationId xmlns:p14="http://schemas.microsoft.com/office/powerpoint/2010/main" val="1820036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96F75-F878-CA6F-98D8-244BC359C883}"/>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Dataset Overview</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11D3FC-5B5A-D44F-CC88-06B31A4628F4}"/>
              </a:ext>
            </a:extLst>
          </p:cNvPr>
          <p:cNvSpPr>
            <a:spLocks noGrp="1"/>
          </p:cNvSpPr>
          <p:nvPr>
            <p:ph idx="1"/>
          </p:nvPr>
        </p:nvSpPr>
        <p:spPr>
          <a:xfrm>
            <a:off x="838200" y="1027906"/>
            <a:ext cx="10515600" cy="4351338"/>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Dataset Name</a:t>
            </a:r>
          </a:p>
          <a:p>
            <a:r>
              <a:rPr lang="en-US" sz="1600" dirty="0">
                <a:latin typeface="Times New Roman" panose="02020603050405020304" pitchFamily="18" charset="0"/>
                <a:cs typeface="Times New Roman" panose="02020603050405020304" pitchFamily="18" charset="0"/>
              </a:rPr>
              <a:t>India Housing Prices Dataset</a:t>
            </a:r>
          </a:p>
          <a:p>
            <a:pPr marL="0" indent="0">
              <a:buNone/>
            </a:pPr>
            <a:r>
              <a:rPr lang="en-US" sz="1600" b="1" dirty="0">
                <a:latin typeface="Times New Roman" panose="02020603050405020304" pitchFamily="18" charset="0"/>
                <a:cs typeface="Times New Roman" panose="02020603050405020304" pitchFamily="18" charset="0"/>
              </a:rPr>
              <a:t>Total Records</a:t>
            </a:r>
          </a:p>
          <a:p>
            <a:r>
              <a:rPr lang="en-US" sz="1600" dirty="0">
                <a:latin typeface="Times New Roman" panose="02020603050405020304" pitchFamily="18" charset="0"/>
                <a:cs typeface="Times New Roman" panose="02020603050405020304" pitchFamily="18" charset="0"/>
              </a:rPr>
              <a:t>250,000 property records </a:t>
            </a:r>
          </a:p>
          <a:p>
            <a:pPr marL="0" indent="0">
              <a:buNone/>
            </a:pPr>
            <a:r>
              <a:rPr lang="en-US" sz="1600" b="1" dirty="0">
                <a:latin typeface="Times New Roman" panose="02020603050405020304" pitchFamily="18" charset="0"/>
                <a:cs typeface="Times New Roman" panose="02020603050405020304" pitchFamily="18" charset="0"/>
              </a:rPr>
              <a:t>Important Features</a:t>
            </a:r>
          </a:p>
          <a:p>
            <a:r>
              <a:rPr lang="en-US" sz="1600" dirty="0">
                <a:latin typeface="Times New Roman" panose="02020603050405020304" pitchFamily="18" charset="0"/>
                <a:cs typeface="Times New Roman" panose="02020603050405020304" pitchFamily="18" charset="0"/>
              </a:rPr>
              <a:t>State </a:t>
            </a:r>
          </a:p>
          <a:p>
            <a:r>
              <a:rPr lang="en-US" sz="1600" dirty="0">
                <a:latin typeface="Times New Roman" panose="02020603050405020304" pitchFamily="18" charset="0"/>
                <a:cs typeface="Times New Roman" panose="02020603050405020304" pitchFamily="18" charset="0"/>
              </a:rPr>
              <a:t>City </a:t>
            </a:r>
          </a:p>
          <a:p>
            <a:r>
              <a:rPr lang="en-US" sz="1600" dirty="0">
                <a:latin typeface="Times New Roman" panose="02020603050405020304" pitchFamily="18" charset="0"/>
                <a:cs typeface="Times New Roman" panose="02020603050405020304" pitchFamily="18" charset="0"/>
              </a:rPr>
              <a:t>Locality </a:t>
            </a:r>
          </a:p>
          <a:p>
            <a:r>
              <a:rPr lang="en-US" sz="1600" dirty="0">
                <a:latin typeface="Times New Roman" panose="02020603050405020304" pitchFamily="18" charset="0"/>
                <a:cs typeface="Times New Roman" panose="02020603050405020304" pitchFamily="18" charset="0"/>
              </a:rPr>
              <a:t>Property Type </a:t>
            </a:r>
          </a:p>
          <a:p>
            <a:r>
              <a:rPr lang="en-US" sz="1600" dirty="0">
                <a:latin typeface="Times New Roman" panose="02020603050405020304" pitchFamily="18" charset="0"/>
                <a:cs typeface="Times New Roman" panose="02020603050405020304" pitchFamily="18" charset="0"/>
              </a:rPr>
              <a:t>BHK </a:t>
            </a:r>
          </a:p>
          <a:p>
            <a:r>
              <a:rPr lang="en-US" sz="1600" dirty="0">
                <a:latin typeface="Times New Roman" panose="02020603050405020304" pitchFamily="18" charset="0"/>
                <a:cs typeface="Times New Roman" panose="02020603050405020304" pitchFamily="18" charset="0"/>
              </a:rPr>
              <a:t>Size in </a:t>
            </a:r>
            <a:r>
              <a:rPr lang="en-US" sz="1600" dirty="0" err="1">
                <a:latin typeface="Times New Roman" panose="02020603050405020304" pitchFamily="18" charset="0"/>
                <a:cs typeface="Times New Roman" panose="02020603050405020304" pitchFamily="18" charset="0"/>
              </a:rPr>
              <a:t>SqFt</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Price in Lakhs </a:t>
            </a:r>
          </a:p>
          <a:p>
            <a:pPr marL="0" indent="0">
              <a:buNone/>
            </a:pPr>
            <a:r>
              <a:rPr lang="en-US" sz="1600" b="1" dirty="0">
                <a:latin typeface="Times New Roman" panose="02020603050405020304" pitchFamily="18" charset="0"/>
                <a:cs typeface="Times New Roman" panose="02020603050405020304" pitchFamily="18" charset="0"/>
              </a:rPr>
              <a:t>The dataset contains both:</a:t>
            </a:r>
          </a:p>
          <a:p>
            <a:r>
              <a:rPr lang="en-US" sz="1600" dirty="0">
                <a:latin typeface="Times New Roman" panose="02020603050405020304" pitchFamily="18" charset="0"/>
                <a:cs typeface="Times New Roman" panose="02020603050405020304" pitchFamily="18" charset="0"/>
              </a:rPr>
              <a:t>numerical features </a:t>
            </a:r>
          </a:p>
          <a:p>
            <a:r>
              <a:rPr lang="en-US" sz="1600" dirty="0">
                <a:latin typeface="Times New Roman" panose="02020603050405020304" pitchFamily="18" charset="0"/>
                <a:cs typeface="Times New Roman" panose="02020603050405020304" pitchFamily="18" charset="0"/>
              </a:rPr>
              <a:t>categorical features </a:t>
            </a:r>
          </a:p>
          <a:p>
            <a:r>
              <a:rPr lang="en-US" sz="1600" dirty="0">
                <a:latin typeface="Times New Roman" panose="02020603050405020304" pitchFamily="18" charset="0"/>
                <a:cs typeface="Times New Roman" panose="02020603050405020304" pitchFamily="18" charset="0"/>
              </a:rPr>
              <a:t>which are useful for machine learning analysis.</a:t>
            </a:r>
          </a:p>
          <a:p>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E6FDED5-8D1F-0648-D681-FB2FDB24A655}"/>
              </a:ext>
            </a:extLst>
          </p:cNvPr>
          <p:cNvSpPr txBox="1"/>
          <p:nvPr/>
        </p:nvSpPr>
        <p:spPr>
          <a:xfrm>
            <a:off x="2611513" y="2566533"/>
            <a:ext cx="3298055" cy="29546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Furnished Status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Parking Space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Amenities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Security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Public Transport Accessibility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Owner Type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Availability Status </a:t>
            </a:r>
          </a:p>
          <a:p>
            <a:endParaRPr lang="en-IN" dirty="0"/>
          </a:p>
        </p:txBody>
      </p:sp>
    </p:spTree>
    <p:extLst>
      <p:ext uri="{BB962C8B-B14F-4D97-AF65-F5344CB8AC3E}">
        <p14:creationId xmlns:p14="http://schemas.microsoft.com/office/powerpoint/2010/main" val="1784087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1358-3F4B-678E-07BC-4FE298F8CAD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Preprocessing</a:t>
            </a:r>
          </a:p>
        </p:txBody>
      </p:sp>
      <p:sp>
        <p:nvSpPr>
          <p:cNvPr id="3" name="Content Placeholder 2">
            <a:extLst>
              <a:ext uri="{FF2B5EF4-FFF2-40B4-BE49-F238E27FC236}">
                <a16:creationId xmlns:a16="http://schemas.microsoft.com/office/drawing/2014/main" id="{88B41BBC-6FEA-3CCF-97C0-271375B45118}"/>
              </a:ext>
            </a:extLst>
          </p:cNvPr>
          <p:cNvSpPr>
            <a:spLocks noGrp="1"/>
          </p:cNvSpPr>
          <p:nvPr>
            <p:ph idx="1"/>
          </p:nvPr>
        </p:nvSpPr>
        <p:spPr>
          <a:xfrm>
            <a:off x="838200" y="1775534"/>
            <a:ext cx="10515600" cy="4401429"/>
          </a:xfrm>
        </p:spPr>
        <p:txBody>
          <a:bodyPr>
            <a:normAutofit fontScale="55000" lnSpcReduction="20000"/>
          </a:bodyPr>
          <a:lstStyle/>
          <a:p>
            <a:r>
              <a:rPr lang="en-US" dirty="0">
                <a:latin typeface="Times New Roman" panose="02020603050405020304" pitchFamily="18" charset="0"/>
                <a:cs typeface="Times New Roman" panose="02020603050405020304" pitchFamily="18" charset="0"/>
              </a:rPr>
              <a:t>Data preprocessing is an important step before training machine learning models.</a:t>
            </a:r>
          </a:p>
          <a:p>
            <a:pPr marL="0" indent="0">
              <a:buNone/>
            </a:pPr>
            <a:r>
              <a:rPr lang="en-US" sz="2900" b="1" dirty="0">
                <a:latin typeface="Times New Roman" panose="02020603050405020304" pitchFamily="18" charset="0"/>
                <a:cs typeface="Times New Roman" panose="02020603050405020304" pitchFamily="18" charset="0"/>
              </a:rPr>
              <a:t>The following preprocessing steps were performed:</a:t>
            </a:r>
          </a:p>
          <a:p>
            <a:r>
              <a:rPr lang="en-US" b="1" dirty="0">
                <a:latin typeface="Times New Roman" panose="02020603050405020304" pitchFamily="18" charset="0"/>
                <a:cs typeface="Times New Roman" panose="02020603050405020304" pitchFamily="18" charset="0"/>
              </a:rPr>
              <a:t>Handling Missing Values</a:t>
            </a:r>
          </a:p>
          <a:p>
            <a:pPr marL="0" indent="0">
              <a:buNone/>
            </a:pPr>
            <a:r>
              <a:rPr lang="en-US" dirty="0">
                <a:latin typeface="Times New Roman" panose="02020603050405020304" pitchFamily="18" charset="0"/>
                <a:cs typeface="Times New Roman" panose="02020603050405020304" pitchFamily="18" charset="0"/>
              </a:rPr>
              <a:t>        Missing values were handled using forward fill method.</a:t>
            </a:r>
          </a:p>
          <a:p>
            <a:r>
              <a:rPr lang="en-US" b="1" dirty="0">
                <a:latin typeface="Times New Roman" panose="02020603050405020304" pitchFamily="18" charset="0"/>
                <a:cs typeface="Times New Roman" panose="02020603050405020304" pitchFamily="18" charset="0"/>
              </a:rPr>
              <a:t>Removing Duplicates</a:t>
            </a:r>
          </a:p>
          <a:p>
            <a:pPr marL="0" indent="0">
              <a:buNone/>
            </a:pPr>
            <a:r>
              <a:rPr lang="en-US" dirty="0">
                <a:latin typeface="Times New Roman" panose="02020603050405020304" pitchFamily="18" charset="0"/>
                <a:cs typeface="Times New Roman" panose="02020603050405020304" pitchFamily="18" charset="0"/>
              </a:rPr>
              <a:t>         Duplicate records were removed to improve data quality.</a:t>
            </a:r>
          </a:p>
          <a:p>
            <a:r>
              <a:rPr lang="en-US" b="1" dirty="0">
                <a:latin typeface="Times New Roman" panose="02020603050405020304" pitchFamily="18" charset="0"/>
                <a:cs typeface="Times New Roman" panose="02020603050405020304" pitchFamily="18" charset="0"/>
              </a:rPr>
              <a:t>Feature Engineering</a:t>
            </a:r>
          </a:p>
          <a:p>
            <a:pPr lvl="1"/>
            <a:r>
              <a:rPr lang="en-US" sz="2500" dirty="0">
                <a:latin typeface="Times New Roman" panose="02020603050405020304" pitchFamily="18" charset="0"/>
                <a:cs typeface="Times New Roman" panose="02020603050405020304" pitchFamily="18" charset="0"/>
              </a:rPr>
              <a:t>New features were created:</a:t>
            </a:r>
          </a:p>
          <a:p>
            <a:pPr lvl="1"/>
            <a:r>
              <a:rPr lang="en-US" sz="2500" dirty="0">
                <a:latin typeface="Times New Roman" panose="02020603050405020304" pitchFamily="18" charset="0"/>
                <a:cs typeface="Times New Roman" panose="02020603050405020304" pitchFamily="18" charset="0"/>
              </a:rPr>
              <a:t>Future_Price_5Y </a:t>
            </a:r>
          </a:p>
          <a:p>
            <a:pPr lvl="1"/>
            <a:r>
              <a:rPr lang="en-US" sz="2500" dirty="0" err="1">
                <a:latin typeface="Times New Roman" panose="02020603050405020304" pitchFamily="18" charset="0"/>
                <a:cs typeface="Times New Roman" panose="02020603050405020304" pitchFamily="18" charset="0"/>
              </a:rPr>
              <a:t>Appreciation_Percentage</a:t>
            </a:r>
            <a:r>
              <a:rPr lang="en-US" sz="2500" dirty="0">
                <a:latin typeface="Times New Roman" panose="02020603050405020304" pitchFamily="18" charset="0"/>
                <a:cs typeface="Times New Roman" panose="02020603050405020304" pitchFamily="18" charset="0"/>
              </a:rPr>
              <a:t> </a:t>
            </a:r>
          </a:p>
          <a:p>
            <a:pPr lvl="1"/>
            <a:r>
              <a:rPr lang="en-US" sz="2500" dirty="0" err="1">
                <a:latin typeface="Times New Roman" panose="02020603050405020304" pitchFamily="18" charset="0"/>
                <a:cs typeface="Times New Roman" panose="02020603050405020304" pitchFamily="18" charset="0"/>
              </a:rPr>
              <a:t>Good_Investment</a:t>
            </a:r>
            <a:r>
              <a:rPr lang="en-US" sz="2500" dirty="0">
                <a:latin typeface="Times New Roman" panose="02020603050405020304" pitchFamily="18" charset="0"/>
                <a:cs typeface="Times New Roman" panose="02020603050405020304" pitchFamily="18" charset="0"/>
              </a:rPr>
              <a:t>  or not a good </a:t>
            </a:r>
            <a:r>
              <a:rPr lang="en-US" sz="2500" dirty="0" err="1">
                <a:latin typeface="Times New Roman" panose="02020603050405020304" pitchFamily="18" charset="0"/>
                <a:cs typeface="Times New Roman" panose="02020603050405020304" pitchFamily="18" charset="0"/>
              </a:rPr>
              <a:t>invesment</a:t>
            </a:r>
            <a:endParaRPr lang="en-US" sz="25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Encoding Categorical Data</a:t>
            </a:r>
          </a:p>
          <a:p>
            <a:pPr marL="0" indent="0">
              <a:buNone/>
            </a:pPr>
            <a:r>
              <a:rPr lang="en-US" dirty="0">
                <a:latin typeface="Times New Roman" panose="02020603050405020304" pitchFamily="18" charset="0"/>
                <a:cs typeface="Times New Roman" panose="02020603050405020304" pitchFamily="18" charset="0"/>
              </a:rPr>
              <a:t>      Label Encoding was used to convert text columns into numeric values.</a:t>
            </a:r>
          </a:p>
          <a:p>
            <a:r>
              <a:rPr lang="en-US" b="1" dirty="0">
                <a:latin typeface="Times New Roman" panose="02020603050405020304" pitchFamily="18" charset="0"/>
                <a:cs typeface="Times New Roman" panose="02020603050405020304" pitchFamily="18" charset="0"/>
              </a:rPr>
              <a:t>Final Processed Dataset</a:t>
            </a:r>
          </a:p>
          <a:p>
            <a:pPr marL="0" indent="0">
              <a:buNone/>
            </a:pPr>
            <a:r>
              <a:rPr lang="en-US" dirty="0">
                <a:latin typeface="Times New Roman" panose="02020603050405020304" pitchFamily="18" charset="0"/>
                <a:cs typeface="Times New Roman" panose="02020603050405020304" pitchFamily="18" charset="0"/>
              </a:rPr>
              <a:t>      The cleaned dataset was saved for model training.</a:t>
            </a:r>
          </a:p>
          <a:p>
            <a:endParaRPr lang="en-IN" dirty="0"/>
          </a:p>
        </p:txBody>
      </p:sp>
    </p:spTree>
    <p:extLst>
      <p:ext uri="{BB962C8B-B14F-4D97-AF65-F5344CB8AC3E}">
        <p14:creationId xmlns:p14="http://schemas.microsoft.com/office/powerpoint/2010/main" val="2073486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7B01D-385A-FD21-DB53-5BBA2EABB4B7}"/>
              </a:ext>
            </a:extLst>
          </p:cNvPr>
          <p:cNvSpPr>
            <a:spLocks noGrp="1"/>
          </p:cNvSpPr>
          <p:nvPr>
            <p:ph type="title"/>
          </p:nvPr>
        </p:nvSpPr>
        <p:spPr/>
        <p:txBody>
          <a:bodyPr/>
          <a:lstStyle/>
          <a:p>
            <a:r>
              <a:rPr lang="en-IN" dirty="0"/>
              <a:t>Exploratory Data Analysis (EDA)</a:t>
            </a:r>
          </a:p>
        </p:txBody>
      </p:sp>
      <p:sp>
        <p:nvSpPr>
          <p:cNvPr id="3" name="Content Placeholder 2">
            <a:extLst>
              <a:ext uri="{FF2B5EF4-FFF2-40B4-BE49-F238E27FC236}">
                <a16:creationId xmlns:a16="http://schemas.microsoft.com/office/drawing/2014/main" id="{AA611138-1B92-2B8D-9376-1ED483FD648E}"/>
              </a:ext>
            </a:extLst>
          </p:cNvPr>
          <p:cNvSpPr>
            <a:spLocks noGrp="1"/>
          </p:cNvSpPr>
          <p:nvPr>
            <p:ph idx="1"/>
          </p:nvPr>
        </p:nvSpPr>
        <p:spPr>
          <a:xfrm>
            <a:off x="1006876" y="1426130"/>
            <a:ext cx="10515600" cy="4351338"/>
          </a:xfrm>
        </p:spPr>
        <p:txBody>
          <a:bodyPr>
            <a:noAutofit/>
          </a:bodyPr>
          <a:lstStyle/>
          <a:p>
            <a:pPr marL="0" indent="0">
              <a:buNone/>
            </a:pPr>
            <a:r>
              <a:rPr lang="en-US" sz="1600" b="1" dirty="0"/>
              <a:t>EDA was performed to understand:</a:t>
            </a:r>
          </a:p>
          <a:p>
            <a:pPr lvl="1"/>
            <a:r>
              <a:rPr lang="en-US" sz="1600" dirty="0"/>
              <a:t>data distribution </a:t>
            </a:r>
          </a:p>
          <a:p>
            <a:pPr lvl="1"/>
            <a:r>
              <a:rPr lang="en-US" sz="1600" dirty="0"/>
              <a:t>feature relationships </a:t>
            </a:r>
          </a:p>
          <a:p>
            <a:pPr lvl="1"/>
            <a:r>
              <a:rPr lang="en-US" sz="1600" dirty="0"/>
              <a:t>trends and patterns </a:t>
            </a:r>
          </a:p>
          <a:p>
            <a:pPr lvl="1"/>
            <a:endParaRPr lang="en-US" sz="1600" dirty="0"/>
          </a:p>
          <a:p>
            <a:pPr marL="0" indent="0">
              <a:buNone/>
            </a:pPr>
            <a:r>
              <a:rPr lang="en-US" sz="1600" b="1" dirty="0"/>
              <a:t>The following analyses were performed:</a:t>
            </a:r>
          </a:p>
          <a:p>
            <a:pPr lvl="1"/>
            <a:r>
              <a:rPr lang="en-US" sz="1600" dirty="0"/>
              <a:t>Property Price Distribution </a:t>
            </a:r>
          </a:p>
          <a:p>
            <a:pPr lvl="1"/>
            <a:r>
              <a:rPr lang="en-US" sz="1600" dirty="0"/>
              <a:t>Property Size Distribution </a:t>
            </a:r>
          </a:p>
          <a:p>
            <a:pPr lvl="1"/>
            <a:r>
              <a:rPr lang="en-US" sz="1600" dirty="0"/>
              <a:t>Property Type Analysis </a:t>
            </a:r>
          </a:p>
          <a:p>
            <a:pPr lvl="1"/>
            <a:r>
              <a:rPr lang="en-US" sz="1600" dirty="0"/>
              <a:t>Outlier Detection </a:t>
            </a:r>
          </a:p>
          <a:p>
            <a:pPr lvl="1"/>
            <a:r>
              <a:rPr lang="en-US" sz="1600" dirty="0"/>
              <a:t>Correlation Heatmap </a:t>
            </a:r>
          </a:p>
          <a:p>
            <a:pPr lvl="1"/>
            <a:endParaRPr lang="en-US" sz="1600" dirty="0"/>
          </a:p>
          <a:p>
            <a:pPr marL="0" indent="0">
              <a:buNone/>
            </a:pPr>
            <a:r>
              <a:rPr lang="en-US" sz="1600" b="1" dirty="0"/>
              <a:t>Visualization libraries:</a:t>
            </a:r>
          </a:p>
          <a:p>
            <a:pPr lvl="1"/>
            <a:r>
              <a:rPr lang="en-US" sz="1600" dirty="0"/>
              <a:t>Matplotlib </a:t>
            </a:r>
          </a:p>
          <a:p>
            <a:pPr lvl="1"/>
            <a:r>
              <a:rPr lang="en-US" sz="1600" dirty="0"/>
              <a:t>Seaborn </a:t>
            </a:r>
          </a:p>
          <a:p>
            <a:pPr lvl="1"/>
            <a:r>
              <a:rPr lang="en-US" sz="1600" dirty="0"/>
              <a:t>were used to generate graphs and plots.</a:t>
            </a:r>
          </a:p>
          <a:p>
            <a:endParaRPr lang="en-IN" sz="1600" dirty="0"/>
          </a:p>
        </p:txBody>
      </p:sp>
    </p:spTree>
    <p:extLst>
      <p:ext uri="{BB962C8B-B14F-4D97-AF65-F5344CB8AC3E}">
        <p14:creationId xmlns:p14="http://schemas.microsoft.com/office/powerpoint/2010/main" val="3388807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6FCB3-1FC8-C44A-7F4B-44A1634710E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EDA Visualizations</a:t>
            </a:r>
          </a:p>
        </p:txBody>
      </p:sp>
      <p:sp>
        <p:nvSpPr>
          <p:cNvPr id="3" name="Content Placeholder 2">
            <a:extLst>
              <a:ext uri="{FF2B5EF4-FFF2-40B4-BE49-F238E27FC236}">
                <a16:creationId xmlns:a16="http://schemas.microsoft.com/office/drawing/2014/main" id="{99010124-53C3-60BA-9680-E4018BFB9C53}"/>
              </a:ext>
            </a:extLst>
          </p:cNvPr>
          <p:cNvSpPr>
            <a:spLocks noGrp="1"/>
          </p:cNvSpPr>
          <p:nvPr>
            <p:ph idx="1"/>
          </p:nvPr>
        </p:nvSpPr>
        <p:spPr>
          <a:xfrm>
            <a:off x="838200" y="1690688"/>
            <a:ext cx="10515600" cy="4351338"/>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Histograms</a:t>
            </a:r>
          </a:p>
          <a:p>
            <a:pPr lvl="1"/>
            <a:r>
              <a:rPr lang="en-US" dirty="0">
                <a:latin typeface="Times New Roman" panose="02020603050405020304" pitchFamily="18" charset="0"/>
                <a:cs typeface="Times New Roman" panose="02020603050405020304" pitchFamily="18" charset="0"/>
              </a:rPr>
              <a:t>price distribution </a:t>
            </a:r>
          </a:p>
          <a:p>
            <a:pPr lvl="1"/>
            <a:r>
              <a:rPr lang="en-US" dirty="0">
                <a:latin typeface="Times New Roman" panose="02020603050405020304" pitchFamily="18" charset="0"/>
                <a:cs typeface="Times New Roman" panose="02020603050405020304" pitchFamily="18" charset="0"/>
              </a:rPr>
              <a:t>property size distribution </a:t>
            </a:r>
          </a:p>
          <a:p>
            <a:pPr marL="0" indent="0">
              <a:buNone/>
            </a:pPr>
            <a:r>
              <a:rPr lang="en-US" b="1" dirty="0">
                <a:latin typeface="Times New Roman" panose="02020603050405020304" pitchFamily="18" charset="0"/>
                <a:cs typeface="Times New Roman" panose="02020603050405020304" pitchFamily="18" charset="0"/>
              </a:rPr>
              <a:t>Scatter Plots</a:t>
            </a:r>
          </a:p>
          <a:p>
            <a:pPr lvl="1"/>
            <a:r>
              <a:rPr lang="en-US" dirty="0">
                <a:latin typeface="Times New Roman" panose="02020603050405020304" pitchFamily="18" charset="0"/>
                <a:cs typeface="Times New Roman" panose="02020603050405020304" pitchFamily="18" charset="0"/>
              </a:rPr>
              <a:t>size vs price </a:t>
            </a:r>
          </a:p>
          <a:p>
            <a:pPr lvl="1"/>
            <a:r>
              <a:rPr lang="en-US" dirty="0">
                <a:latin typeface="Times New Roman" panose="02020603050405020304" pitchFamily="18" charset="0"/>
                <a:cs typeface="Times New Roman" panose="02020603050405020304" pitchFamily="18" charset="0"/>
              </a:rPr>
              <a:t>transport accessibility vs price </a:t>
            </a:r>
          </a:p>
          <a:p>
            <a:pPr marL="0" indent="0">
              <a:buNone/>
            </a:pPr>
            <a:r>
              <a:rPr lang="en-US" b="1" dirty="0">
                <a:latin typeface="Times New Roman" panose="02020603050405020304" pitchFamily="18" charset="0"/>
                <a:cs typeface="Times New Roman" panose="02020603050405020304" pitchFamily="18" charset="0"/>
              </a:rPr>
              <a:t>Box Plots</a:t>
            </a:r>
          </a:p>
          <a:p>
            <a:pPr lvl="1"/>
            <a:r>
              <a:rPr lang="en-US" dirty="0">
                <a:latin typeface="Times New Roman" panose="02020603050405020304" pitchFamily="18" charset="0"/>
                <a:cs typeface="Times New Roman" panose="02020603050405020304" pitchFamily="18" charset="0"/>
              </a:rPr>
              <a:t>BHK vs price </a:t>
            </a:r>
          </a:p>
          <a:p>
            <a:pPr lvl="1"/>
            <a:r>
              <a:rPr lang="en-US" dirty="0">
                <a:latin typeface="Times New Roman" panose="02020603050405020304" pitchFamily="18" charset="0"/>
                <a:cs typeface="Times New Roman" panose="02020603050405020304" pitchFamily="18" charset="0"/>
              </a:rPr>
              <a:t>amenities vs price </a:t>
            </a:r>
          </a:p>
          <a:p>
            <a:pPr lvl="1"/>
            <a:r>
              <a:rPr lang="en-US" dirty="0">
                <a:latin typeface="Times New Roman" panose="02020603050405020304" pitchFamily="18" charset="0"/>
                <a:cs typeface="Times New Roman" panose="02020603050405020304" pitchFamily="18" charset="0"/>
              </a:rPr>
              <a:t>furnished status vs price </a:t>
            </a:r>
          </a:p>
          <a:p>
            <a:pPr marL="0" indent="0">
              <a:buNone/>
            </a:pPr>
            <a:r>
              <a:rPr lang="en-US" b="1" dirty="0">
                <a:latin typeface="Times New Roman" panose="02020603050405020304" pitchFamily="18" charset="0"/>
                <a:cs typeface="Times New Roman" panose="02020603050405020304" pitchFamily="18" charset="0"/>
              </a:rPr>
              <a:t>Heatmap</a:t>
            </a:r>
          </a:p>
          <a:p>
            <a:pPr lvl="1"/>
            <a:r>
              <a:rPr lang="en-US" sz="2600" dirty="0">
                <a:latin typeface="Times New Roman" panose="02020603050405020304" pitchFamily="18" charset="0"/>
                <a:cs typeface="Times New Roman" panose="02020603050405020304" pitchFamily="18" charset="0"/>
              </a:rPr>
              <a:t>Used to identify correlations between numerical features.</a:t>
            </a:r>
          </a:p>
          <a:p>
            <a:pPr lvl="1"/>
            <a:r>
              <a:rPr lang="en-US" sz="2600" dirty="0">
                <a:latin typeface="Times New Roman" panose="02020603050405020304" pitchFamily="18" charset="0"/>
                <a:cs typeface="Times New Roman" panose="02020603050405020304" pitchFamily="18" charset="0"/>
              </a:rPr>
              <a:t>These visualizations helped in understanding important property trends.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154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E8CE-B9A0-B1CB-5A37-ECB312E848ED}"/>
              </a:ext>
            </a:extLst>
          </p:cNvPr>
          <p:cNvSpPr>
            <a:spLocks noGrp="1"/>
          </p:cNvSpPr>
          <p:nvPr>
            <p:ph type="title"/>
          </p:nvPr>
        </p:nvSpPr>
        <p:spPr/>
        <p:txBody>
          <a:bodyPr/>
          <a:lstStyle/>
          <a:p>
            <a:r>
              <a:rPr lang="en-IN" b="1" dirty="0"/>
              <a:t>Feature Engineering</a:t>
            </a:r>
            <a:br>
              <a:rPr lang="en-IN"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2C3FEA2-AB0C-6564-0B0D-F3B3C5B0373E}"/>
                  </a:ext>
                </a:extLst>
              </p:cNvPr>
              <p:cNvSpPr>
                <a:spLocks noGrp="1"/>
              </p:cNvSpPr>
              <p:nvPr>
                <p:ph idx="1"/>
              </p:nvPr>
            </p:nvSpPr>
            <p:spPr>
              <a:xfrm>
                <a:off x="926976" y="1253330"/>
                <a:ext cx="10515600" cy="5156347"/>
              </a:xfrm>
            </p:spPr>
            <p:txBody>
              <a:bodyPr>
                <a:normAutofit fontScale="70000" lnSpcReduction="20000"/>
              </a:bodyPr>
              <a:lstStyle/>
              <a:p>
                <a:r>
                  <a:rPr lang="en-IN" dirty="0"/>
                  <a:t>New features were created to improve prediction performance.</a:t>
                </a:r>
              </a:p>
              <a:p>
                <a:endParaRPr lang="en-IN" dirty="0"/>
              </a:p>
              <a:p>
                <a:pPr marL="0" indent="0">
                  <a:buNone/>
                </a:pPr>
                <a:r>
                  <a:rPr lang="en-IN" b="1" dirty="0"/>
                  <a:t>Price Per </a:t>
                </a:r>
                <a:r>
                  <a:rPr lang="en-IN" b="1" dirty="0" err="1"/>
                  <a:t>SqFt</a:t>
                </a:r>
                <a:r>
                  <a:rPr lang="en-IN" b="1" dirty="0"/>
                  <a:t> Formula</a:t>
                </a:r>
              </a:p>
              <a:p>
                <a14:m>
                  <m:oMath xmlns:m="http://schemas.openxmlformats.org/officeDocument/2006/math">
                    <m:r>
                      <a:rPr lang="en-IN" i="1"/>
                      <m:t>𝑃𝑟𝑖𝑐𝑒</m:t>
                    </m:r>
                    <m:r>
                      <m:rPr>
                        <m:lit/>
                      </m:rPr>
                      <a:rPr lang="en-IN"/>
                      <m:t>_</m:t>
                    </m:r>
                    <m:r>
                      <a:rPr lang="en-IN" i="1"/>
                      <m:t>𝑝𝑒𝑟</m:t>
                    </m:r>
                    <m:r>
                      <m:rPr>
                        <m:lit/>
                      </m:rPr>
                      <a:rPr lang="en-IN"/>
                      <m:t>_</m:t>
                    </m:r>
                    <m:r>
                      <a:rPr lang="en-IN" i="1"/>
                      <m:t>𝑆𝑞𝐹𝑡</m:t>
                    </m:r>
                    <m:r>
                      <a:rPr lang="en-IN"/>
                      <m:t>=</m:t>
                    </m:r>
                    <m:f>
                      <m:fPr>
                        <m:ctrlPr>
                          <a:rPr lang="ar-AE" i="1"/>
                        </m:ctrlPr>
                      </m:fPr>
                      <m:num>
                        <m:r>
                          <a:rPr lang="ar-AE" i="1"/>
                          <m:t>𝑃𝑟𝑖𝑐𝑒</m:t>
                        </m:r>
                        <m:r>
                          <m:rPr>
                            <m:lit/>
                          </m:rPr>
                          <a:rPr lang="ar-AE"/>
                          <m:t>_</m:t>
                        </m:r>
                        <m:r>
                          <a:rPr lang="ar-AE" i="1"/>
                          <m:t>𝑖𝑛</m:t>
                        </m:r>
                        <m:r>
                          <m:rPr>
                            <m:lit/>
                          </m:rPr>
                          <a:rPr lang="ar-AE"/>
                          <m:t>_</m:t>
                        </m:r>
                        <m:r>
                          <a:rPr lang="ar-AE" i="1"/>
                          <m:t>𝐿𝑎𝑘</m:t>
                        </m:r>
                        <m:r>
                          <a:rPr lang="ar-AE" i="1"/>
                          <m:t>h</m:t>
                        </m:r>
                        <m:r>
                          <a:rPr lang="ar-AE" i="1"/>
                          <m:t>𝑠</m:t>
                        </m:r>
                        <m:r>
                          <a:rPr lang="ar-AE"/>
                          <m:t>×</m:t>
                        </m:r>
                        <m:r>
                          <a:rPr lang="ar-AE"/>
                          <m:t>100000</m:t>
                        </m:r>
                      </m:num>
                      <m:den>
                        <m:r>
                          <a:rPr lang="ar-AE" i="1"/>
                          <m:t>𝑆𝑖𝑧𝑒</m:t>
                        </m:r>
                        <m:r>
                          <m:rPr>
                            <m:lit/>
                          </m:rPr>
                          <a:rPr lang="ar-AE"/>
                          <m:t>_</m:t>
                        </m:r>
                        <m:r>
                          <a:rPr lang="ar-AE" i="1"/>
                          <m:t>𝑖𝑛</m:t>
                        </m:r>
                        <m:r>
                          <m:rPr>
                            <m:lit/>
                          </m:rPr>
                          <a:rPr lang="ar-AE"/>
                          <m:t>_</m:t>
                        </m:r>
                        <m:r>
                          <a:rPr lang="ar-AE" i="1"/>
                          <m:t>𝑆𝑞𝐹𝑡</m:t>
                        </m:r>
                      </m:den>
                    </m:f>
                  </m:oMath>
                </a14:m>
                <a:endParaRPr lang="ar-AE" dirty="0"/>
              </a:p>
              <a:p>
                <a:r>
                  <a:rPr lang="en-IN" dirty="0"/>
                  <a:t>This feature helps compare property prices based on area size.</a:t>
                </a:r>
              </a:p>
              <a:p>
                <a:pPr marL="0" indent="0">
                  <a:buNone/>
                </a:pPr>
                <a:br>
                  <a:rPr lang="en-IN" dirty="0"/>
                </a:br>
                <a:endParaRPr lang="en-IN" dirty="0"/>
              </a:p>
              <a:p>
                <a:pPr marL="0" indent="0">
                  <a:buNone/>
                </a:pPr>
                <a:r>
                  <a:rPr lang="en-IN" b="1" dirty="0"/>
                  <a:t>Future Price Prediction Formula</a:t>
                </a:r>
              </a:p>
              <a:p>
                <a14:m>
                  <m:oMath xmlns:m="http://schemas.openxmlformats.org/officeDocument/2006/math">
                    <m:r>
                      <a:rPr lang="en-IN" i="1"/>
                      <m:t>𝐹𝑢𝑡𝑢𝑟𝑒</m:t>
                    </m:r>
                    <m:r>
                      <m:rPr>
                        <m:lit/>
                      </m:rPr>
                      <a:rPr lang="en-IN"/>
                      <m:t>_</m:t>
                    </m:r>
                    <m:r>
                      <a:rPr lang="en-IN" i="1"/>
                      <m:t>𝑃𝑟𝑖𝑐𝑒</m:t>
                    </m:r>
                    <m:r>
                      <m:rPr>
                        <m:lit/>
                      </m:rPr>
                      <a:rPr lang="en-IN"/>
                      <m:t>_</m:t>
                    </m:r>
                    <m:r>
                      <a:rPr lang="en-IN"/>
                      <m:t>5</m:t>
                    </m:r>
                    <m:r>
                      <a:rPr lang="en-IN" i="1"/>
                      <m:t>𝑌</m:t>
                    </m:r>
                    <m:r>
                      <a:rPr lang="en-IN"/>
                      <m:t>=</m:t>
                    </m:r>
                    <m:r>
                      <a:rPr lang="en-IN" i="1"/>
                      <m:t>𝐶𝑢𝑟𝑟𝑒𝑛𝑡</m:t>
                    </m:r>
                    <m:r>
                      <m:rPr>
                        <m:lit/>
                      </m:rPr>
                      <a:rPr lang="en-IN"/>
                      <m:t>_</m:t>
                    </m:r>
                    <m:r>
                      <a:rPr lang="en-IN" i="1"/>
                      <m:t>𝑃𝑟𝑖𝑐𝑒</m:t>
                    </m:r>
                    <m:r>
                      <a:rPr lang="en-IN"/>
                      <m:t>×</m:t>
                    </m:r>
                    <m:sSup>
                      <m:sSupPr>
                        <m:ctrlPr>
                          <a:rPr lang="ar-AE" i="1"/>
                        </m:ctrlPr>
                      </m:sSupPr>
                      <m:e>
                        <m:d>
                          <m:dPr>
                            <m:ctrlPr>
                              <a:rPr lang="ar-AE" i="1"/>
                            </m:ctrlPr>
                          </m:dPr>
                          <m:e>
                            <m:r>
                              <a:rPr lang="ar-AE"/>
                              <m:t>1</m:t>
                            </m:r>
                            <m:r>
                              <a:rPr lang="ar-AE"/>
                              <m:t>+</m:t>
                            </m:r>
                            <m:r>
                              <a:rPr lang="ar-AE" i="1"/>
                              <m:t>𝑟</m:t>
                            </m:r>
                          </m:e>
                        </m:d>
                      </m:e>
                      <m:sup>
                        <m:r>
                          <a:rPr lang="ar-AE" i="1"/>
                          <m:t>𝑡</m:t>
                        </m:r>
                      </m:sup>
                    </m:sSup>
                  </m:oMath>
                </a14:m>
                <a:endParaRPr lang="ar-AE" dirty="0"/>
              </a:p>
              <a:p>
                <a:pPr marL="0" indent="0">
                  <a:buNone/>
                </a:pPr>
                <a:r>
                  <a:rPr lang="en-IN" dirty="0"/>
                  <a:t>Where:</a:t>
                </a:r>
              </a:p>
              <a:p>
                <a:pPr lvl="1"/>
                <a14:m>
                  <m:oMath xmlns:m="http://schemas.openxmlformats.org/officeDocument/2006/math">
                    <m:r>
                      <a:rPr lang="en-IN" sz="2600" i="1"/>
                      <m:t>𝑟</m:t>
                    </m:r>
                  </m:oMath>
                </a14:m>
                <a:r>
                  <a:rPr lang="en-IN" sz="2600" dirty="0"/>
                  <a:t>= annual growth rate </a:t>
                </a:r>
              </a:p>
              <a:p>
                <a:pPr lvl="1"/>
                <a14:m>
                  <m:oMath xmlns:m="http://schemas.openxmlformats.org/officeDocument/2006/math">
                    <m:r>
                      <a:rPr lang="en-IN" sz="2600" i="1"/>
                      <m:t>𝑡</m:t>
                    </m:r>
                  </m:oMath>
                </a14:m>
                <a:r>
                  <a:rPr lang="en-IN" sz="2600" dirty="0"/>
                  <a:t>= number of years </a:t>
                </a:r>
              </a:p>
              <a:p>
                <a:pPr lvl="1"/>
                <a:r>
                  <a:rPr lang="en-IN" sz="2600" dirty="0"/>
                  <a:t>In this project:</a:t>
                </a:r>
              </a:p>
              <a:p>
                <a:pPr lvl="1"/>
                <a14:m>
                  <m:oMath xmlns:m="http://schemas.openxmlformats.org/officeDocument/2006/math">
                    <m:r>
                      <a:rPr lang="en-IN" sz="2600" i="1"/>
                      <m:t>𝑟</m:t>
                    </m:r>
                    <m:r>
                      <a:rPr lang="en-IN" sz="2600"/>
                      <m:t>=</m:t>
                    </m:r>
                    <m:r>
                      <a:rPr lang="en-IN" sz="2600"/>
                      <m:t>8</m:t>
                    </m:r>
                  </m:oMath>
                </a14:m>
                <a:endParaRPr lang="en-IN" sz="2600" dirty="0"/>
              </a:p>
              <a:p>
                <a:pPr lvl="1"/>
                <a14:m>
                  <m:oMath xmlns:m="http://schemas.openxmlformats.org/officeDocument/2006/math">
                    <m:r>
                      <a:rPr lang="en-IN" sz="2600" i="1"/>
                      <m:t>𝑡</m:t>
                    </m:r>
                    <m:r>
                      <a:rPr lang="en-IN" sz="2600"/>
                      <m:t>=</m:t>
                    </m:r>
                    <m:r>
                      <a:rPr lang="en-IN" sz="2600"/>
                      <m:t>5</m:t>
                    </m:r>
                  </m:oMath>
                </a14:m>
                <a:endParaRPr lang="en-IN" sz="2600" dirty="0"/>
              </a:p>
              <a:p>
                <a:endParaRPr lang="en-IN" dirty="0"/>
              </a:p>
              <a:p>
                <a:endParaRPr lang="en-IN" dirty="0"/>
              </a:p>
            </p:txBody>
          </p:sp>
        </mc:Choice>
        <mc:Fallback>
          <p:sp>
            <p:nvSpPr>
              <p:cNvPr id="3" name="Content Placeholder 2">
                <a:extLst>
                  <a:ext uri="{FF2B5EF4-FFF2-40B4-BE49-F238E27FC236}">
                    <a16:creationId xmlns:a16="http://schemas.microsoft.com/office/drawing/2014/main" id="{72C3FEA2-AB0C-6564-0B0D-F3B3C5B0373E}"/>
                  </a:ext>
                </a:extLst>
              </p:cNvPr>
              <p:cNvSpPr>
                <a:spLocks noGrp="1" noRot="1" noChangeAspect="1" noMove="1" noResize="1" noEditPoints="1" noAdjustHandles="1" noChangeArrowheads="1" noChangeShapeType="1" noTextEdit="1"/>
              </p:cNvSpPr>
              <p:nvPr>
                <p:ph idx="1"/>
              </p:nvPr>
            </p:nvSpPr>
            <p:spPr>
              <a:xfrm>
                <a:off x="926976" y="1253330"/>
                <a:ext cx="10515600" cy="5156347"/>
              </a:xfrm>
              <a:blipFill>
                <a:blip r:embed="rId2"/>
                <a:stretch>
                  <a:fillRect l="-580" t="-2130"/>
                </a:stretch>
              </a:blipFill>
            </p:spPr>
            <p:txBody>
              <a:bodyPr/>
              <a:lstStyle/>
              <a:p>
                <a:r>
                  <a:rPr lang="en-IN">
                    <a:noFill/>
                  </a:rPr>
                  <a:t> </a:t>
                </a:r>
              </a:p>
            </p:txBody>
          </p:sp>
        </mc:Fallback>
      </mc:AlternateContent>
    </p:spTree>
    <p:extLst>
      <p:ext uri="{BB962C8B-B14F-4D97-AF65-F5344CB8AC3E}">
        <p14:creationId xmlns:p14="http://schemas.microsoft.com/office/powerpoint/2010/main" val="1578405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E82BFF8-7D1E-6EAC-4B0A-ACD14EDD3432}"/>
                  </a:ext>
                </a:extLst>
              </p:cNvPr>
              <p:cNvSpPr>
                <a:spLocks noGrp="1"/>
              </p:cNvSpPr>
              <p:nvPr>
                <p:ph idx="1"/>
              </p:nvPr>
            </p:nvSpPr>
            <p:spPr>
              <a:xfrm>
                <a:off x="989120" y="1062145"/>
                <a:ext cx="10515600" cy="4351338"/>
              </a:xfrm>
            </p:spPr>
            <p:txBody>
              <a:bodyPr>
                <a:normAutofit fontScale="70000" lnSpcReduction="20000"/>
              </a:bodyPr>
              <a:lstStyle/>
              <a:p>
                <a:pPr marL="0" indent="0">
                  <a:buNone/>
                </a:pPr>
                <a:r>
                  <a:rPr lang="en-IN" b="1" dirty="0">
                    <a:latin typeface="Times New Roman" panose="02020603050405020304" pitchFamily="18" charset="0"/>
                    <a:cs typeface="Times New Roman" panose="02020603050405020304" pitchFamily="18" charset="0"/>
                  </a:rPr>
                  <a:t>Appreciation Percentage Formula</a:t>
                </a:r>
              </a:p>
              <a:p>
                <a14:m>
                  <m:oMath xmlns:m="http://schemas.openxmlformats.org/officeDocument/2006/math">
                    <m:r>
                      <a:rPr lang="en-IN" i="1">
                        <a:latin typeface="Cambria Math" panose="02040503050406030204" pitchFamily="18" charset="0"/>
                      </a:rPr>
                      <m:t>𝐴𝑝𝑝𝑟𝑒𝑐𝑖𝑎𝑡𝑖𝑜𝑛</m:t>
                    </m:r>
                    <m:r>
                      <m:rPr>
                        <m:lit/>
                      </m:rPr>
                      <a:rPr lang="en-IN">
                        <a:latin typeface="Cambria Math" panose="02040503050406030204" pitchFamily="18" charset="0"/>
                      </a:rPr>
                      <m:t>_</m:t>
                    </m:r>
                    <m:r>
                      <a:rPr lang="en-IN" i="1">
                        <a:latin typeface="Cambria Math" panose="02040503050406030204" pitchFamily="18" charset="0"/>
                      </a:rPr>
                      <m:t>𝑃𝑒𝑟𝑐𝑒𝑛𝑡𝑎𝑔𝑒</m:t>
                    </m:r>
                    <m:r>
                      <a:rPr lang="en-IN">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𝐹𝑢𝑡𝑢𝑟𝑒</m:t>
                        </m:r>
                        <m:r>
                          <m:rPr>
                            <m:lit/>
                          </m:rPr>
                          <a:rPr lang="ar-AE">
                            <a:latin typeface="Cambria Math" panose="02040503050406030204" pitchFamily="18" charset="0"/>
                          </a:rPr>
                          <m:t>_</m:t>
                        </m:r>
                        <m:r>
                          <a:rPr lang="ar-AE" i="1">
                            <a:latin typeface="Cambria Math" panose="02040503050406030204" pitchFamily="18" charset="0"/>
                          </a:rPr>
                          <m:t>𝑃𝑟𝑖𝑐𝑒</m:t>
                        </m:r>
                        <m:r>
                          <a:rPr lang="ar-AE">
                            <a:latin typeface="Cambria Math" panose="02040503050406030204" pitchFamily="18" charset="0"/>
                          </a:rPr>
                          <m:t>−</m:t>
                        </m:r>
                        <m:r>
                          <a:rPr lang="ar-AE" i="1">
                            <a:latin typeface="Cambria Math" panose="02040503050406030204" pitchFamily="18" charset="0"/>
                          </a:rPr>
                          <m:t>𝐶𝑢𝑟𝑟𝑒𝑛𝑡</m:t>
                        </m:r>
                        <m:r>
                          <m:rPr>
                            <m:lit/>
                          </m:rPr>
                          <a:rPr lang="ar-AE">
                            <a:latin typeface="Cambria Math" panose="02040503050406030204" pitchFamily="18" charset="0"/>
                          </a:rPr>
                          <m:t>_</m:t>
                        </m:r>
                        <m:r>
                          <a:rPr lang="ar-AE" i="1">
                            <a:latin typeface="Cambria Math" panose="02040503050406030204" pitchFamily="18" charset="0"/>
                          </a:rPr>
                          <m:t>𝑃𝑟𝑖𝑐𝑒</m:t>
                        </m:r>
                      </m:num>
                      <m:den>
                        <m:r>
                          <a:rPr lang="ar-AE" i="1">
                            <a:latin typeface="Cambria Math" panose="02040503050406030204" pitchFamily="18" charset="0"/>
                          </a:rPr>
                          <m:t>𝐶𝑢𝑟𝑟𝑒𝑛𝑡</m:t>
                        </m:r>
                        <m:r>
                          <m:rPr>
                            <m:lit/>
                          </m:rPr>
                          <a:rPr lang="ar-AE">
                            <a:latin typeface="Cambria Math" panose="02040503050406030204" pitchFamily="18" charset="0"/>
                          </a:rPr>
                          <m:t>_</m:t>
                        </m:r>
                        <m:r>
                          <a:rPr lang="ar-AE" i="1">
                            <a:latin typeface="Cambria Math" panose="02040503050406030204" pitchFamily="18" charset="0"/>
                          </a:rPr>
                          <m:t>𝑃𝑟𝑖𝑐𝑒</m:t>
                        </m:r>
                      </m:den>
                    </m:f>
                    <m:r>
                      <a:rPr lang="ar-AE">
                        <a:latin typeface="Cambria Math" panose="02040503050406030204" pitchFamily="18" charset="0"/>
                      </a:rPr>
                      <m:t>×</m:t>
                    </m:r>
                    <m:r>
                      <a:rPr lang="ar-AE">
                        <a:latin typeface="Cambria Math" panose="02040503050406030204" pitchFamily="18" charset="0"/>
                      </a:rPr>
                      <m:t>100</m:t>
                    </m:r>
                  </m:oMath>
                </a14:m>
                <a:endParaRPr lang="ar-AE"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This measures how much the property value may increase in the future.</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Good Investment Logic</a:t>
                </a:r>
              </a:p>
              <a:p>
                <a:r>
                  <a:rPr lang="en-IN" dirty="0">
                    <a:latin typeface="Times New Roman" panose="02020603050405020304" pitchFamily="18" charset="0"/>
                    <a:cs typeface="Times New Roman" panose="02020603050405020304" pitchFamily="18" charset="0"/>
                  </a:rPr>
                  <a:t>Properties with prices lower than the median property price were classified as good investments.</a:t>
                </a:r>
              </a:p>
              <a:p>
                <a:r>
                  <a:rPr lang="en-IN" dirty="0">
                    <a:latin typeface="Times New Roman" panose="02020603050405020304" pitchFamily="18" charset="0"/>
                    <a:cs typeface="Times New Roman" panose="02020603050405020304" pitchFamily="18" charset="0"/>
                  </a:rPr>
                  <a:t>Formula used:</a:t>
                </a:r>
              </a:p>
              <a:p>
                <a14:m>
                  <m:oMath xmlns:m="http://schemas.openxmlformats.org/officeDocument/2006/math">
                    <m:r>
                      <a:rPr lang="en-IN" i="1">
                        <a:latin typeface="Cambria Math" panose="02040503050406030204" pitchFamily="18" charset="0"/>
                      </a:rPr>
                      <m:t>𝐺𝑜𝑜𝑑</m:t>
                    </m:r>
                    <m:r>
                      <m:rPr>
                        <m:lit/>
                      </m:rPr>
                      <a:rPr lang="en-IN">
                        <a:latin typeface="Cambria Math" panose="02040503050406030204" pitchFamily="18" charset="0"/>
                      </a:rPr>
                      <m:t>_</m:t>
                    </m:r>
                    <m:r>
                      <a:rPr lang="en-IN" i="1">
                        <a:latin typeface="Cambria Math" panose="02040503050406030204" pitchFamily="18" charset="0"/>
                      </a:rPr>
                      <m:t>𝐼𝑛𝑣𝑒𝑠𝑡𝑚𝑒𝑛𝑡</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1</m:t>
                              </m:r>
                            </m:e>
                            <m:e>
                              <m:r>
                                <m:rPr>
                                  <m:nor/>
                                </m:rPr>
                                <a:rPr lang="en-IN" i="1">
                                  <a:latin typeface="Times New Roman" panose="02020603050405020304" pitchFamily="18" charset="0"/>
                                  <a:cs typeface="Times New Roman" panose="02020603050405020304" pitchFamily="18" charset="0"/>
                                </a:rPr>
                                <m:t>if</m:t>
                              </m:r>
                              <m:r>
                                <m:rPr>
                                  <m:nor/>
                                </m:rPr>
                                <a:rPr lang="en-IN" i="1">
                                  <a:latin typeface="Times New Roman" panose="02020603050405020304" pitchFamily="18" charset="0"/>
                                  <a:cs typeface="Times New Roman" panose="02020603050405020304" pitchFamily="18" charset="0"/>
                                </a:rPr>
                                <m:t> </m:t>
                              </m:r>
                              <m:r>
                                <m:rPr>
                                  <m:nor/>
                                </m:rPr>
                                <a:rPr lang="en-IN" i="1">
                                  <a:latin typeface="Times New Roman" panose="02020603050405020304" pitchFamily="18" charset="0"/>
                                  <a:cs typeface="Times New Roman" panose="02020603050405020304" pitchFamily="18" charset="0"/>
                                </a:rPr>
                                <m:t>Price</m:t>
                              </m:r>
                              <m:r>
                                <m:rPr>
                                  <m:lit/>
                                  <m:nor/>
                                </m:rPr>
                                <a:rPr lang="en-IN" i="1">
                                  <a:latin typeface="Times New Roman" panose="02020603050405020304" pitchFamily="18" charset="0"/>
                                  <a:cs typeface="Times New Roman" panose="02020603050405020304" pitchFamily="18" charset="0"/>
                                </a:rPr>
                                <m:t>_</m:t>
                              </m:r>
                              <m:r>
                                <m:rPr>
                                  <m:nor/>
                                </m:rPr>
                                <a:rPr lang="en-IN" i="1">
                                  <a:latin typeface="Times New Roman" panose="02020603050405020304" pitchFamily="18" charset="0"/>
                                  <a:cs typeface="Times New Roman" panose="02020603050405020304" pitchFamily="18" charset="0"/>
                                </a:rPr>
                                <m:t>in</m:t>
                              </m:r>
                              <m:r>
                                <m:rPr>
                                  <m:lit/>
                                  <m:nor/>
                                </m:rPr>
                                <a:rPr lang="en-IN" i="1">
                                  <a:latin typeface="Times New Roman" panose="02020603050405020304" pitchFamily="18" charset="0"/>
                                  <a:cs typeface="Times New Roman" panose="02020603050405020304" pitchFamily="18" charset="0"/>
                                </a:rPr>
                                <m:t>_</m:t>
                              </m:r>
                              <m:r>
                                <m:rPr>
                                  <m:nor/>
                                </m:rPr>
                                <a:rPr lang="en-IN" i="1">
                                  <a:latin typeface="Times New Roman" panose="02020603050405020304" pitchFamily="18" charset="0"/>
                                  <a:cs typeface="Times New Roman" panose="02020603050405020304" pitchFamily="18" charset="0"/>
                                </a:rPr>
                                <m:t>Lakhs</m:t>
                              </m:r>
                              <m:r>
                                <m:rPr>
                                  <m:nor/>
                                </m:rPr>
                                <a:rPr lang="en-IN" i="1">
                                  <a:latin typeface="Times New Roman" panose="02020603050405020304" pitchFamily="18" charset="0"/>
                                  <a:cs typeface="Times New Roman" panose="02020603050405020304" pitchFamily="18" charset="0"/>
                                </a:rPr>
                                <m:t> &lt; </m:t>
                              </m:r>
                              <m:r>
                                <m:rPr>
                                  <m:nor/>
                                </m:rPr>
                                <a:rPr lang="en-IN" i="1">
                                  <a:latin typeface="Times New Roman" panose="02020603050405020304" pitchFamily="18" charset="0"/>
                                  <a:cs typeface="Times New Roman" panose="02020603050405020304" pitchFamily="18" charset="0"/>
                                </a:rPr>
                                <m:t>Median</m:t>
                              </m:r>
                              <m:r>
                                <m:rPr>
                                  <m:lit/>
                                  <m:nor/>
                                </m:rPr>
                                <a:rPr lang="en-IN" i="1">
                                  <a:latin typeface="Times New Roman" panose="02020603050405020304" pitchFamily="18" charset="0"/>
                                  <a:cs typeface="Times New Roman" panose="02020603050405020304" pitchFamily="18" charset="0"/>
                                </a:rPr>
                                <m:t>_</m:t>
                              </m:r>
                              <m:r>
                                <m:rPr>
                                  <m:nor/>
                                </m:rPr>
                                <a:rPr lang="en-IN" i="1">
                                  <a:latin typeface="Times New Roman" panose="02020603050405020304" pitchFamily="18" charset="0"/>
                                  <a:cs typeface="Times New Roman" panose="02020603050405020304" pitchFamily="18" charset="0"/>
                                </a:rPr>
                                <m:t>Price</m:t>
                              </m:r>
                            </m:e>
                          </m:mr>
                          <m:mr>
                            <m:e>
                              <m:r>
                                <a:rPr lang="ar-AE">
                                  <a:latin typeface="Cambria Math" panose="02040503050406030204" pitchFamily="18" charset="0"/>
                                </a:rPr>
                                <m:t>0</m:t>
                              </m:r>
                            </m:e>
                            <m:e>
                              <m:r>
                                <m:rPr>
                                  <m:nor/>
                                </m:rPr>
                                <a:rPr lang="en-IN" i="1">
                                  <a:latin typeface="Times New Roman" panose="02020603050405020304" pitchFamily="18" charset="0"/>
                                  <a:cs typeface="Times New Roman" panose="02020603050405020304" pitchFamily="18" charset="0"/>
                                </a:rPr>
                                <m:t>otherwise</m:t>
                              </m:r>
                            </m:e>
                          </m:mr>
                        </m:m>
                      </m:e>
                    </m:d>
                  </m:oMath>
                </a14:m>
                <a:endParaRPr lang="ar-AE"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Where:</a:t>
                </a:r>
              </a:p>
              <a:p>
                <a:pPr lvl="1"/>
                <a:r>
                  <a:rPr lang="en-IN" sz="2600" dirty="0">
                    <a:latin typeface="Times New Roman" panose="02020603050405020304" pitchFamily="18" charset="0"/>
                    <a:cs typeface="Times New Roman" panose="02020603050405020304" pitchFamily="18" charset="0"/>
                  </a:rPr>
                  <a:t>1 = Good Investment </a:t>
                </a:r>
              </a:p>
              <a:p>
                <a:pPr lvl="1"/>
                <a:r>
                  <a:rPr lang="en-IN" sz="2600" dirty="0">
                    <a:latin typeface="Times New Roman" panose="02020603050405020304" pitchFamily="18" charset="0"/>
                    <a:cs typeface="Times New Roman" panose="02020603050405020304" pitchFamily="18" charset="0"/>
                  </a:rPr>
                  <a:t>0 = Not Good Investment </a:t>
                </a:r>
              </a:p>
              <a:p>
                <a:endParaRPr lang="en-IN" dirty="0"/>
              </a:p>
            </p:txBody>
          </p:sp>
        </mc:Choice>
        <mc:Fallback>
          <p:sp>
            <p:nvSpPr>
              <p:cNvPr id="3" name="Content Placeholder 2">
                <a:extLst>
                  <a:ext uri="{FF2B5EF4-FFF2-40B4-BE49-F238E27FC236}">
                    <a16:creationId xmlns:a16="http://schemas.microsoft.com/office/drawing/2014/main" id="{BE82BFF8-7D1E-6EAC-4B0A-ACD14EDD3432}"/>
                  </a:ext>
                </a:extLst>
              </p:cNvPr>
              <p:cNvSpPr>
                <a:spLocks noGrp="1" noRot="1" noChangeAspect="1" noMove="1" noResize="1" noEditPoints="1" noAdjustHandles="1" noChangeArrowheads="1" noChangeShapeType="1" noTextEdit="1"/>
              </p:cNvSpPr>
              <p:nvPr>
                <p:ph idx="1"/>
              </p:nvPr>
            </p:nvSpPr>
            <p:spPr>
              <a:xfrm>
                <a:off x="989120" y="1062145"/>
                <a:ext cx="10515600" cy="4351338"/>
              </a:xfrm>
              <a:blipFill>
                <a:blip r:embed="rId2"/>
                <a:stretch>
                  <a:fillRect l="-580" t="-2661"/>
                </a:stretch>
              </a:blipFill>
            </p:spPr>
            <p:txBody>
              <a:bodyPr/>
              <a:lstStyle/>
              <a:p>
                <a:r>
                  <a:rPr lang="en-IN">
                    <a:noFill/>
                  </a:rPr>
                  <a:t> </a:t>
                </a:r>
              </a:p>
            </p:txBody>
          </p:sp>
        </mc:Fallback>
      </mc:AlternateContent>
    </p:spTree>
    <p:extLst>
      <p:ext uri="{BB962C8B-B14F-4D97-AF65-F5344CB8AC3E}">
        <p14:creationId xmlns:p14="http://schemas.microsoft.com/office/powerpoint/2010/main" val="4031657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5498E-0B10-27B2-CC97-4CD8B655340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Model Building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E07388-53CE-8DA9-DBC7-BD9D35923815}"/>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Different Machine Learning algorithms were used to predict whether a property is a good investment and to estimate the future property price after 5 years.</a:t>
            </a:r>
          </a:p>
          <a:p>
            <a:r>
              <a:rPr lang="en-US" sz="2000" dirty="0">
                <a:latin typeface="Times New Roman" panose="02020603050405020304" pitchFamily="18" charset="0"/>
                <a:cs typeface="Times New Roman" panose="02020603050405020304" pitchFamily="18" charset="0"/>
              </a:rPr>
              <a:t>Before training the models, the dataset was divided into:</a:t>
            </a:r>
          </a:p>
          <a:p>
            <a:pPr lvl="1"/>
            <a:r>
              <a:rPr lang="en-US" sz="2000" dirty="0">
                <a:latin typeface="Times New Roman" panose="02020603050405020304" pitchFamily="18" charset="0"/>
                <a:cs typeface="Times New Roman" panose="02020603050405020304" pitchFamily="18" charset="0"/>
              </a:rPr>
              <a:t>Training dataset </a:t>
            </a:r>
          </a:p>
          <a:p>
            <a:pPr lvl="1"/>
            <a:r>
              <a:rPr lang="en-US" sz="2000" dirty="0">
                <a:latin typeface="Times New Roman" panose="02020603050405020304" pitchFamily="18" charset="0"/>
                <a:cs typeface="Times New Roman" panose="02020603050405020304" pitchFamily="18" charset="0"/>
              </a:rPr>
              <a:t>Testing dataset</a:t>
            </a:r>
          </a:p>
          <a:p>
            <a:pPr lvl="1"/>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Data Splitting</a:t>
            </a:r>
          </a:p>
          <a:p>
            <a:pPr lvl="1"/>
            <a:r>
              <a:rPr lang="en-US" sz="2000" dirty="0">
                <a:latin typeface="Times New Roman" panose="02020603050405020304" pitchFamily="18" charset="0"/>
                <a:cs typeface="Times New Roman" panose="02020603050405020304" pitchFamily="18" charset="0"/>
              </a:rPr>
              <a:t>The dataset was split using the train-test split method.</a:t>
            </a:r>
          </a:p>
          <a:p>
            <a:pPr lvl="1"/>
            <a:r>
              <a:rPr lang="en-US" sz="2000" b="1" dirty="0">
                <a:latin typeface="Times New Roman" panose="02020603050405020304" pitchFamily="18" charset="0"/>
                <a:cs typeface="Times New Roman" panose="02020603050405020304" pitchFamily="18" charset="0"/>
              </a:rPr>
              <a:t>80%</a:t>
            </a:r>
            <a:r>
              <a:rPr lang="en-US" sz="2000" dirty="0">
                <a:latin typeface="Times New Roman" panose="02020603050405020304" pitchFamily="18" charset="0"/>
                <a:cs typeface="Times New Roman" panose="02020603050405020304" pitchFamily="18" charset="0"/>
              </a:rPr>
              <a:t> of the data was used for training the models. </a:t>
            </a:r>
          </a:p>
          <a:p>
            <a:pPr lvl="1"/>
            <a:r>
              <a:rPr lang="en-US" sz="2000" b="1" dirty="0">
                <a:latin typeface="Times New Roman" panose="02020603050405020304" pitchFamily="18" charset="0"/>
                <a:cs typeface="Times New Roman" panose="02020603050405020304" pitchFamily="18" charset="0"/>
              </a:rPr>
              <a:t>20%</a:t>
            </a:r>
            <a:r>
              <a:rPr lang="en-US" sz="2000" dirty="0">
                <a:latin typeface="Times New Roman" panose="02020603050405020304" pitchFamily="18" charset="0"/>
                <a:cs typeface="Times New Roman" panose="02020603050405020304" pitchFamily="18" charset="0"/>
              </a:rPr>
              <a:t> of the data was used for testing and evaluating model performance. </a:t>
            </a:r>
          </a:p>
          <a:p>
            <a:pPr lvl="1"/>
            <a:r>
              <a:rPr lang="en-US" sz="2000" dirty="0">
                <a:latin typeface="Times New Roman" panose="02020603050405020304" pitchFamily="18" charset="0"/>
                <a:cs typeface="Times New Roman" panose="02020603050405020304" pitchFamily="18" charset="0"/>
              </a:rPr>
              <a:t>This splitting helps the model learn patterns from training data and test its prediction accuracy on unseen data.</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3964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94B504-684D-1393-874E-3AA42A63D6D1}"/>
              </a:ext>
            </a:extLst>
          </p:cNvPr>
          <p:cNvSpPr>
            <a:spLocks noGrp="1"/>
          </p:cNvSpPr>
          <p:nvPr>
            <p:ph idx="1"/>
          </p:nvPr>
        </p:nvSpPr>
        <p:spPr>
          <a:xfrm>
            <a:off x="935855" y="822448"/>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Classification Models Used</a:t>
            </a:r>
          </a:p>
          <a:p>
            <a:r>
              <a:rPr lang="en-US" dirty="0">
                <a:latin typeface="Times New Roman" panose="02020603050405020304" pitchFamily="18" charset="0"/>
                <a:cs typeface="Times New Roman" panose="02020603050405020304" pitchFamily="18" charset="0"/>
              </a:rPr>
              <a:t>The following classification algorithms were used to predict whether a property is a good investment:</a:t>
            </a:r>
          </a:p>
          <a:p>
            <a:pPr lvl="1"/>
            <a:r>
              <a:rPr lang="en-US" dirty="0">
                <a:latin typeface="Times New Roman" panose="02020603050405020304" pitchFamily="18" charset="0"/>
                <a:cs typeface="Times New Roman" panose="02020603050405020304" pitchFamily="18" charset="0"/>
              </a:rPr>
              <a:t>Logistic Regression </a:t>
            </a:r>
          </a:p>
          <a:p>
            <a:pPr lvl="1"/>
            <a:r>
              <a:rPr lang="en-US" dirty="0">
                <a:latin typeface="Times New Roman" panose="02020603050405020304" pitchFamily="18" charset="0"/>
                <a:cs typeface="Times New Roman" panose="02020603050405020304" pitchFamily="18" charset="0"/>
              </a:rPr>
              <a:t>Decision Tree Classifier </a:t>
            </a:r>
          </a:p>
          <a:p>
            <a:pPr lvl="1"/>
            <a:r>
              <a:rPr lang="en-US" dirty="0">
                <a:latin typeface="Times New Roman" panose="02020603050405020304" pitchFamily="18" charset="0"/>
                <a:cs typeface="Times New Roman" panose="02020603050405020304" pitchFamily="18" charset="0"/>
              </a:rPr>
              <a:t>Random Forest Classifier </a:t>
            </a:r>
          </a:p>
          <a:p>
            <a:pPr lvl="1"/>
            <a:r>
              <a:rPr lang="en-US" dirty="0">
                <a:latin typeface="Times New Roman" panose="02020603050405020304" pitchFamily="18" charset="0"/>
                <a:cs typeface="Times New Roman" panose="02020603050405020304" pitchFamily="18" charset="0"/>
              </a:rPr>
              <a:t>Support Vector Machine (SVM) </a:t>
            </a:r>
          </a:p>
          <a:p>
            <a:pPr lvl="1"/>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Classifier </a:t>
            </a:r>
          </a:p>
          <a:p>
            <a:r>
              <a:rPr lang="en-US" dirty="0">
                <a:latin typeface="Times New Roman" panose="02020603050405020304" pitchFamily="18" charset="0"/>
                <a:cs typeface="Times New Roman" panose="02020603050405020304" pitchFamily="18" charset="0"/>
              </a:rPr>
              <a:t>These algorithms were chosen because they use different learning methods and help compare model performance effectively.</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6209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50B168-59D1-894A-840A-B92693663DEC}"/>
              </a:ext>
            </a:extLst>
          </p:cNvPr>
          <p:cNvSpPr>
            <a:spLocks noGrp="1"/>
          </p:cNvSpPr>
          <p:nvPr>
            <p:ph idx="1"/>
          </p:nvPr>
        </p:nvSpPr>
        <p:spPr>
          <a:xfrm>
            <a:off x="838200" y="1142044"/>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Regression Models Used</a:t>
            </a:r>
          </a:p>
          <a:p>
            <a:r>
              <a:rPr lang="en-US" dirty="0">
                <a:latin typeface="Times New Roman" panose="02020603050405020304" pitchFamily="18" charset="0"/>
                <a:cs typeface="Times New Roman" panose="02020603050405020304" pitchFamily="18" charset="0"/>
              </a:rPr>
              <a:t>The following regression algorithms were used to predict future property prices:</a:t>
            </a:r>
          </a:p>
          <a:p>
            <a:pPr lvl="1"/>
            <a:r>
              <a:rPr lang="en-US" dirty="0">
                <a:latin typeface="Times New Roman" panose="02020603050405020304" pitchFamily="18" charset="0"/>
                <a:cs typeface="Times New Roman" panose="02020603050405020304" pitchFamily="18" charset="0"/>
              </a:rPr>
              <a:t>Linear Regression </a:t>
            </a:r>
          </a:p>
          <a:p>
            <a:pPr lvl="1"/>
            <a:r>
              <a:rPr lang="en-US" dirty="0">
                <a:latin typeface="Times New Roman" panose="02020603050405020304" pitchFamily="18" charset="0"/>
                <a:cs typeface="Times New Roman" panose="02020603050405020304" pitchFamily="18" charset="0"/>
              </a:rPr>
              <a:t>Decision Tree Regressor </a:t>
            </a:r>
          </a:p>
          <a:p>
            <a:pPr lvl="1"/>
            <a:r>
              <a:rPr lang="en-US" dirty="0">
                <a:latin typeface="Times New Roman" panose="02020603050405020304" pitchFamily="18" charset="0"/>
                <a:cs typeface="Times New Roman" panose="02020603050405020304" pitchFamily="18" charset="0"/>
              </a:rPr>
              <a:t>Random Forest Regressor </a:t>
            </a:r>
          </a:p>
          <a:p>
            <a:pPr lvl="1"/>
            <a:r>
              <a:rPr lang="en-US" dirty="0">
                <a:latin typeface="Times New Roman" panose="02020603050405020304" pitchFamily="18" charset="0"/>
                <a:cs typeface="Times New Roman" panose="02020603050405020304" pitchFamily="18" charset="0"/>
              </a:rPr>
              <a:t>Support Vector Regressor (SVR) </a:t>
            </a:r>
          </a:p>
          <a:p>
            <a:pPr lvl="1"/>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Regressor </a:t>
            </a:r>
          </a:p>
          <a:p>
            <a:r>
              <a:rPr lang="en-US" dirty="0">
                <a:latin typeface="Times New Roman" panose="02020603050405020304" pitchFamily="18" charset="0"/>
                <a:cs typeface="Times New Roman" panose="02020603050405020304" pitchFamily="18" charset="0"/>
              </a:rPr>
              <a:t>These models were selected because they are effective for predicting continuous numerical values such as future prices.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0124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3C40A-A41C-79BC-885E-45B3A7FD7C05}"/>
              </a:ext>
            </a:extLst>
          </p:cNvPr>
          <p:cNvSpPr>
            <a:spLocks noGrp="1"/>
          </p:cNvSpPr>
          <p:nvPr>
            <p:ph type="title"/>
          </p:nvPr>
        </p:nvSpPr>
        <p:spPr/>
        <p:txBody>
          <a:bodyPr/>
          <a:lstStyle/>
          <a:p>
            <a:r>
              <a:rPr lang="en-IN" dirty="0"/>
              <a:t>Final Model Selection</a:t>
            </a:r>
          </a:p>
        </p:txBody>
      </p:sp>
      <p:sp>
        <p:nvSpPr>
          <p:cNvPr id="3" name="Content Placeholder 2">
            <a:extLst>
              <a:ext uri="{FF2B5EF4-FFF2-40B4-BE49-F238E27FC236}">
                <a16:creationId xmlns:a16="http://schemas.microsoft.com/office/drawing/2014/main" id="{0D28F12E-BBEB-727D-9E96-FBB5A4EFC9E3}"/>
              </a:ext>
            </a:extLst>
          </p:cNvPr>
          <p:cNvSpPr>
            <a:spLocks noGrp="1"/>
          </p:cNvSpPr>
          <p:nvPr>
            <p:ph idx="1"/>
          </p:nvPr>
        </p:nvSpPr>
        <p:spPr>
          <a:xfrm>
            <a:off x="838200" y="1690688"/>
            <a:ext cx="10515600" cy="4351338"/>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Final Classification Model</a:t>
            </a:r>
          </a:p>
          <a:p>
            <a:pPr marL="0" indent="0">
              <a:buNone/>
            </a:pPr>
            <a:r>
              <a:rPr lang="en-US" sz="2400" b="1" dirty="0" err="1">
                <a:latin typeface="Times New Roman" panose="02020603050405020304" pitchFamily="18" charset="0"/>
                <a:cs typeface="Times New Roman" panose="02020603050405020304" pitchFamily="18" charset="0"/>
              </a:rPr>
              <a:t>XGBoost</a:t>
            </a:r>
            <a:r>
              <a:rPr lang="en-US" sz="2400" b="1" dirty="0">
                <a:latin typeface="Times New Roman" panose="02020603050405020304" pitchFamily="18" charset="0"/>
                <a:cs typeface="Times New Roman" panose="02020603050405020304" pitchFamily="18" charset="0"/>
              </a:rPr>
              <a:t> Classifier</a:t>
            </a:r>
          </a:p>
          <a:p>
            <a:pPr lvl="1"/>
            <a:r>
              <a:rPr lang="en-US" dirty="0">
                <a:latin typeface="Times New Roman" panose="02020603050405020304" pitchFamily="18" charset="0"/>
                <a:cs typeface="Times New Roman" panose="02020603050405020304" pitchFamily="18" charset="0"/>
              </a:rPr>
              <a:t>Accuracy: </a:t>
            </a:r>
            <a:r>
              <a:rPr lang="en-US" b="1" dirty="0">
                <a:latin typeface="Times New Roman" panose="02020603050405020304" pitchFamily="18" charset="0"/>
                <a:cs typeface="Times New Roman" panose="02020603050405020304" pitchFamily="18" charset="0"/>
              </a:rPr>
              <a:t>98.35%</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Precision: </a:t>
            </a:r>
            <a:r>
              <a:rPr lang="en-US" b="1" dirty="0">
                <a:latin typeface="Times New Roman" panose="02020603050405020304" pitchFamily="18" charset="0"/>
                <a:cs typeface="Times New Roman" panose="02020603050405020304" pitchFamily="18" charset="0"/>
              </a:rPr>
              <a:t>98.22%</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Recall: </a:t>
            </a:r>
            <a:r>
              <a:rPr lang="en-US" b="1" dirty="0">
                <a:latin typeface="Times New Roman" panose="02020603050405020304" pitchFamily="18" charset="0"/>
                <a:cs typeface="Times New Roman" panose="02020603050405020304" pitchFamily="18" charset="0"/>
              </a:rPr>
              <a:t>98.44%</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ROC AUC Score: </a:t>
            </a:r>
            <a:r>
              <a:rPr lang="en-US" b="1" dirty="0">
                <a:latin typeface="Times New Roman" panose="02020603050405020304" pitchFamily="18" charset="0"/>
                <a:cs typeface="Times New Roman" panose="02020603050405020304" pitchFamily="18" charset="0"/>
              </a:rPr>
              <a:t>98.35%</a:t>
            </a:r>
            <a:r>
              <a:rPr lang="en-US"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Reason for Selection</a:t>
            </a:r>
          </a:p>
          <a:p>
            <a:pPr lvl="1"/>
            <a:r>
              <a:rPr lang="en-US" dirty="0">
                <a:latin typeface="Times New Roman" panose="02020603050405020304" pitchFamily="18" charset="0"/>
                <a:cs typeface="Times New Roman" panose="02020603050405020304" pitchFamily="18" charset="0"/>
              </a:rPr>
              <a:t>Achieved the highest classification accuracy. </a:t>
            </a:r>
          </a:p>
          <a:p>
            <a:pPr lvl="1"/>
            <a:r>
              <a:rPr lang="en-US" dirty="0">
                <a:latin typeface="Times New Roman" panose="02020603050405020304" pitchFamily="18" charset="0"/>
                <a:cs typeface="Times New Roman" panose="02020603050405020304" pitchFamily="18" charset="0"/>
              </a:rPr>
              <a:t>Provided better overall prediction performance. </a:t>
            </a:r>
          </a:p>
          <a:p>
            <a:pPr lvl="1"/>
            <a:endParaRPr lang="en-US"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862295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E8EBFD-C145-3680-8A23-0820C374B4F8}"/>
              </a:ext>
            </a:extLst>
          </p:cNvPr>
          <p:cNvSpPr>
            <a:spLocks noGrp="1"/>
          </p:cNvSpPr>
          <p:nvPr>
            <p:ph idx="1"/>
          </p:nvPr>
        </p:nvSpPr>
        <p:spPr>
          <a:xfrm>
            <a:off x="909221" y="1008880"/>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Final Regression Model</a:t>
            </a:r>
          </a:p>
          <a:p>
            <a:pPr marL="0" indent="0">
              <a:buNone/>
            </a:pPr>
            <a:r>
              <a:rPr lang="en-US" b="1" dirty="0">
                <a:latin typeface="Times New Roman" panose="02020603050405020304" pitchFamily="18" charset="0"/>
                <a:cs typeface="Times New Roman" panose="02020603050405020304" pitchFamily="18" charset="0"/>
              </a:rPr>
              <a:t>Random Forest Regressor</a:t>
            </a:r>
          </a:p>
          <a:p>
            <a:pPr lvl="1"/>
            <a:r>
              <a:rPr lang="en-US" dirty="0">
                <a:latin typeface="Times New Roman" panose="02020603050405020304" pitchFamily="18" charset="0"/>
                <a:cs typeface="Times New Roman" panose="02020603050405020304" pitchFamily="18" charset="0"/>
              </a:rPr>
              <a:t>RMSE: </a:t>
            </a:r>
            <a:r>
              <a:rPr lang="en-US" b="1" dirty="0">
                <a:latin typeface="Times New Roman" panose="02020603050405020304" pitchFamily="18" charset="0"/>
                <a:cs typeface="Times New Roman" panose="02020603050405020304" pitchFamily="18" charset="0"/>
              </a:rPr>
              <a:t>13.47</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MAE: </a:t>
            </a:r>
            <a:r>
              <a:rPr lang="en-US" b="1" dirty="0">
                <a:latin typeface="Times New Roman" panose="02020603050405020304" pitchFamily="18" charset="0"/>
                <a:cs typeface="Times New Roman" panose="02020603050405020304" pitchFamily="18" charset="0"/>
              </a:rPr>
              <a:t>10.52</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R² Score: </a:t>
            </a:r>
            <a:r>
              <a:rPr lang="en-US" b="1" dirty="0">
                <a:latin typeface="Times New Roman" panose="02020603050405020304" pitchFamily="18" charset="0"/>
                <a:cs typeface="Times New Roman" panose="02020603050405020304" pitchFamily="18" charset="0"/>
              </a:rPr>
              <a:t>99.57%</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Reason for Selection</a:t>
            </a:r>
          </a:p>
          <a:p>
            <a:pPr lvl="1"/>
            <a:r>
              <a:rPr lang="en-US" dirty="0">
                <a:latin typeface="Times New Roman" panose="02020603050405020304" pitchFamily="18" charset="0"/>
                <a:cs typeface="Times New Roman" panose="02020603050405020304" pitchFamily="18" charset="0"/>
              </a:rPr>
              <a:t>Achieved the highest R² score. </a:t>
            </a:r>
          </a:p>
          <a:p>
            <a:pPr lvl="1"/>
            <a:r>
              <a:rPr lang="en-US" dirty="0">
                <a:latin typeface="Times New Roman" panose="02020603050405020304" pitchFamily="18" charset="0"/>
                <a:cs typeface="Times New Roman" panose="02020603050405020304" pitchFamily="18" charset="0"/>
              </a:rPr>
              <a:t>Produced the lowest prediction error. </a:t>
            </a:r>
          </a:p>
          <a:p>
            <a:pPr lvl="1"/>
            <a:r>
              <a:rPr lang="en-US" dirty="0">
                <a:latin typeface="Times New Roman" panose="02020603050405020304" pitchFamily="18" charset="0"/>
                <a:cs typeface="Times New Roman" panose="02020603050405020304" pitchFamily="18" charset="0"/>
              </a:rPr>
              <a:t>Predicted future property prices more accurately than other models.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854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FF9C-582F-F376-6D78-57F86777D2E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OUTPUT SCREENSHOT</a:t>
            </a:r>
          </a:p>
        </p:txBody>
      </p:sp>
      <p:pic>
        <p:nvPicPr>
          <p:cNvPr id="5" name="Content Placeholder 4" descr="The image is a form for a Real Estate Investment Advisor, where a user is filling out property details such as state, city, locality, property type, and number of bedrooms to estimate future property prices.&#10;&#10;AI-generated content may be incorrect.">
            <a:extLst>
              <a:ext uri="{FF2B5EF4-FFF2-40B4-BE49-F238E27FC236}">
                <a16:creationId xmlns:a16="http://schemas.microsoft.com/office/drawing/2014/main" id="{1717444E-B5A9-B425-AFBE-408ACD781063}"/>
              </a:ext>
            </a:extLst>
          </p:cNvPr>
          <p:cNvPicPr>
            <a:picLocks noGrp="1" noChangeAspect="1"/>
          </p:cNvPicPr>
          <p:nvPr>
            <p:ph idx="1"/>
          </p:nvPr>
        </p:nvPicPr>
        <p:blipFill>
          <a:blip r:embed="rId2"/>
          <a:stretch>
            <a:fillRect/>
          </a:stretch>
        </p:blipFill>
        <p:spPr>
          <a:xfrm>
            <a:off x="646908" y="1947334"/>
            <a:ext cx="5118892" cy="3780896"/>
          </a:xfrm>
          <a:prstGeom prst="rect">
            <a:avLst/>
          </a:prstGeom>
        </p:spPr>
      </p:pic>
      <p:pic>
        <p:nvPicPr>
          <p:cNvPr id="7" name="Picture 6" descr="The image displays a property listing with details such as size, price, year built, furnishing status, floor number, total floors, age, and nearby amenities.&#10;&#10;AI-generated content may be incorrect.">
            <a:extLst>
              <a:ext uri="{FF2B5EF4-FFF2-40B4-BE49-F238E27FC236}">
                <a16:creationId xmlns:a16="http://schemas.microsoft.com/office/drawing/2014/main" id="{756BB7A8-93D3-60C2-A062-AA19DA0585DC}"/>
              </a:ext>
            </a:extLst>
          </p:cNvPr>
          <p:cNvPicPr>
            <a:picLocks noChangeAspect="1"/>
          </p:cNvPicPr>
          <p:nvPr/>
        </p:nvPicPr>
        <p:blipFill>
          <a:blip r:embed="rId3"/>
          <a:stretch>
            <a:fillRect/>
          </a:stretch>
        </p:blipFill>
        <p:spPr>
          <a:xfrm>
            <a:off x="6096000" y="2015066"/>
            <a:ext cx="5762202" cy="3780896"/>
          </a:xfrm>
          <a:prstGeom prst="rect">
            <a:avLst/>
          </a:prstGeom>
        </p:spPr>
      </p:pic>
    </p:spTree>
    <p:extLst>
      <p:ext uri="{BB962C8B-B14F-4D97-AF65-F5344CB8AC3E}">
        <p14:creationId xmlns:p14="http://schemas.microsoft.com/office/powerpoint/2010/main" val="3854339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e image is a table or form with various fields such as Public Transport Accessibility, Parking Space, Security Rating, Amenities Rating, Facing Direction, and Owner Type, with some fields filled in and others left blank, indicating information about a property or listing.&#10;&#10;AI-generated content may be incorrect.">
            <a:extLst>
              <a:ext uri="{FF2B5EF4-FFF2-40B4-BE49-F238E27FC236}">
                <a16:creationId xmlns:a16="http://schemas.microsoft.com/office/drawing/2014/main" id="{BFE6DEB0-B36A-CE29-3833-C78575B8D312}"/>
              </a:ext>
            </a:extLst>
          </p:cNvPr>
          <p:cNvPicPr>
            <a:picLocks noGrp="1" noChangeAspect="1"/>
          </p:cNvPicPr>
          <p:nvPr>
            <p:ph idx="1"/>
          </p:nvPr>
        </p:nvPicPr>
        <p:blipFill>
          <a:blip r:embed="rId2"/>
          <a:stretch>
            <a:fillRect/>
          </a:stretch>
        </p:blipFill>
        <p:spPr>
          <a:xfrm>
            <a:off x="561622" y="1131358"/>
            <a:ext cx="5396089" cy="4351338"/>
          </a:xfrm>
          <a:prstGeom prst="rect">
            <a:avLst/>
          </a:prstGeom>
        </p:spPr>
      </p:pic>
      <p:pic>
        <p:nvPicPr>
          <p:cNvPr id="7" name="Picture 6" descr="The image displays a financial prediction tool showing a 95% confidence score, estimating an investment price of 44.08 Lakhs in five years.&#10;&#10;AI-generated content may be incorrect.">
            <a:extLst>
              <a:ext uri="{FF2B5EF4-FFF2-40B4-BE49-F238E27FC236}">
                <a16:creationId xmlns:a16="http://schemas.microsoft.com/office/drawing/2014/main" id="{DB937C2B-9233-6750-35BB-0AB4F4A27957}"/>
              </a:ext>
            </a:extLst>
          </p:cNvPr>
          <p:cNvPicPr>
            <a:picLocks noChangeAspect="1"/>
          </p:cNvPicPr>
          <p:nvPr/>
        </p:nvPicPr>
        <p:blipFill>
          <a:blip r:embed="rId3"/>
          <a:stretch>
            <a:fillRect/>
          </a:stretch>
        </p:blipFill>
        <p:spPr>
          <a:xfrm>
            <a:off x="6234291" y="1857051"/>
            <a:ext cx="5113750" cy="2568163"/>
          </a:xfrm>
          <a:prstGeom prst="rect">
            <a:avLst/>
          </a:prstGeom>
        </p:spPr>
      </p:pic>
    </p:spTree>
    <p:extLst>
      <p:ext uri="{BB962C8B-B14F-4D97-AF65-F5344CB8AC3E}">
        <p14:creationId xmlns:p14="http://schemas.microsoft.com/office/powerpoint/2010/main" val="4196678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e diagram is a visualization of various factors affecting property value, such as location, size, age, amenities, and proximity to schools and hospitals, arranged in a hierarchical manner to show their relative importance.&#10;&#10;AI-generated content may be incorrect.">
            <a:extLst>
              <a:ext uri="{FF2B5EF4-FFF2-40B4-BE49-F238E27FC236}">
                <a16:creationId xmlns:a16="http://schemas.microsoft.com/office/drawing/2014/main" id="{D40D5A4B-B26E-329C-E920-7F95AB913FB3}"/>
              </a:ext>
            </a:extLst>
          </p:cNvPr>
          <p:cNvPicPr>
            <a:picLocks noGrp="1" noChangeAspect="1"/>
          </p:cNvPicPr>
          <p:nvPr>
            <p:ph idx="1"/>
          </p:nvPr>
        </p:nvPicPr>
        <p:blipFill>
          <a:blip r:embed="rId2"/>
          <a:stretch>
            <a:fillRect/>
          </a:stretch>
        </p:blipFill>
        <p:spPr>
          <a:xfrm>
            <a:off x="628178" y="978958"/>
            <a:ext cx="5940310" cy="4685242"/>
          </a:xfrm>
          <a:prstGeom prst="rect">
            <a:avLst/>
          </a:prstGeom>
        </p:spPr>
      </p:pic>
      <p:pic>
        <p:nvPicPr>
          <p:cNvPr id="7" name="Picture 6" descr="The diagram shows a bar chart representing average property prices, with cities ranked from highest to lowest.&#10;&#10;AI-generated content may be incorrect.">
            <a:extLst>
              <a:ext uri="{FF2B5EF4-FFF2-40B4-BE49-F238E27FC236}">
                <a16:creationId xmlns:a16="http://schemas.microsoft.com/office/drawing/2014/main" id="{18402E36-A84A-3087-2419-7A345BD9FBE4}"/>
              </a:ext>
            </a:extLst>
          </p:cNvPr>
          <p:cNvPicPr>
            <a:picLocks noChangeAspect="1"/>
          </p:cNvPicPr>
          <p:nvPr/>
        </p:nvPicPr>
        <p:blipFill>
          <a:blip r:embed="rId3"/>
          <a:stretch>
            <a:fillRect/>
          </a:stretch>
        </p:blipFill>
        <p:spPr>
          <a:xfrm>
            <a:off x="6299199" y="978958"/>
            <a:ext cx="5588001" cy="4442845"/>
          </a:xfrm>
          <a:prstGeom prst="rect">
            <a:avLst/>
          </a:prstGeom>
        </p:spPr>
      </p:pic>
    </p:spTree>
    <p:extLst>
      <p:ext uri="{BB962C8B-B14F-4D97-AF65-F5344CB8AC3E}">
        <p14:creationId xmlns:p14="http://schemas.microsoft.com/office/powerpoint/2010/main" val="3264418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5F254-0973-386B-E90A-70958864EBF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82BF0D1C-A129-2C41-1105-EC50CB3275A0}"/>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This project successfully developed a Machine Learning based Real Estate Investment Advisor system that predicts whether a property is a good investment and estimates future property prices. Features such as property size, location, amenities, and security significantly influenced predictions.</a:t>
            </a:r>
          </a:p>
          <a:p>
            <a:r>
              <a:rPr lang="en-US" dirty="0">
                <a:latin typeface="Times New Roman" panose="02020603050405020304" pitchFamily="18" charset="0"/>
                <a:cs typeface="Times New Roman" panose="02020603050405020304" pitchFamily="18" charset="0"/>
              </a:rPr>
              <a:t>This system can help property buyers and investors make faster and more accurate investment decisions using machine learning predictions and data analysis. Real estate companies can also use this system to automate investment analysis and improve customer trust.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71591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1008</Words>
  <Application>Microsoft Office PowerPoint</Application>
  <PresentationFormat>Widescreen</PresentationFormat>
  <Paragraphs>210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Cambria Math</vt:lpstr>
      <vt:lpstr>Times New Roman</vt:lpstr>
      <vt:lpstr>Office Theme</vt:lpstr>
      <vt:lpstr>Real Estate Investment Advisor: Predicting Property Profitability &amp; Future Value  Mini project -2</vt:lpstr>
      <vt:lpstr>Introduction</vt:lpstr>
      <vt:lpstr>Problem Statement</vt:lpstr>
      <vt:lpstr>Project Objectives</vt:lpstr>
      <vt:lpstr>Technologies Used</vt:lpstr>
      <vt:lpstr>Dataset Overview  </vt:lpstr>
      <vt:lpstr>Data Preprocessing</vt:lpstr>
      <vt:lpstr>Exploratory Data Analysis (EDA)</vt:lpstr>
      <vt:lpstr>EDA Visualizations</vt:lpstr>
      <vt:lpstr>Feature Engineering </vt:lpstr>
      <vt:lpstr>PowerPoint Presentation</vt:lpstr>
      <vt:lpstr>Model Building</vt:lpstr>
      <vt:lpstr>PowerPoint Presentation</vt:lpstr>
      <vt:lpstr>PowerPoint Presentation</vt:lpstr>
      <vt:lpstr>Final Model Selection</vt:lpstr>
      <vt:lpstr>PowerPoint Presentation</vt:lpstr>
      <vt:lpstr>OUTPUT SCREENSHOT</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Anushka Thiyagarajan</dc:creator>
  <cp:lastModifiedBy>Anushka Thiyagarajan</cp:lastModifiedBy>
  <cp:revision>3</cp:revision>
  <dcterms:created xsi:type="dcterms:W3CDTF">2026-05-15T06:09:45Z</dcterms:created>
  <dcterms:modified xsi:type="dcterms:W3CDTF">2026-05-15T15:23:32Z</dcterms:modified>
</cp:coreProperties>
</file>